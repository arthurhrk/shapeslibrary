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10/31/2025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09CA3E-9DFB-51CC-B58D-FCF4AF1FC6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414AFE-DA7B-18F5-18BF-1C1D9050DB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690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tiff"/><Relationship Id="rId7" Type="http://schemas.openxmlformats.org/officeDocument/2006/relationships/image" Target="../media/image7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tiff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64CCE0-D8E3-DF95-8EB8-FCEE8ECCA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DED1-73E3-3F99-6B17-F484DDA01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AD2E78-D5AB-1656-8B5A-5CAAB49764EC}"/>
              </a:ext>
            </a:extLst>
          </p:cNvPr>
          <p:cNvSpPr/>
          <p:nvPr/>
        </p:nvSpPr>
        <p:spPr>
          <a:xfrm flipH="1">
            <a:off x="639251" y="1272786"/>
            <a:ext cx="10913499" cy="5107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28DE5-C143-949D-7CD1-A31EA7FD526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8930"/>
          <a:stretch/>
        </p:blipFill>
        <p:spPr>
          <a:xfrm>
            <a:off x="1229925" y="1872310"/>
            <a:ext cx="1100531" cy="351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33C244-DF4F-0C25-2ED4-2EAC4FCB38D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1070" y="1835950"/>
            <a:ext cx="1121825" cy="533208"/>
          </a:xfrm>
          <a:prstGeom prst="rect">
            <a:avLst/>
          </a:prstGeom>
        </p:spPr>
      </p:pic>
      <p:pic>
        <p:nvPicPr>
          <p:cNvPr id="7" name="Picture 2" descr="Image result for square logo">
            <a:extLst>
              <a:ext uri="{FF2B5EF4-FFF2-40B4-BE49-F238E27FC236}">
                <a16:creationId xmlns:a16="http://schemas.microsoft.com/office/drawing/2014/main" id="{DD31ED9C-FDDC-7F8E-6B88-C81471C0D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09432" y="1903180"/>
            <a:ext cx="1100531" cy="27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 result for klarna logo png">
            <a:extLst>
              <a:ext uri="{FF2B5EF4-FFF2-40B4-BE49-F238E27FC236}">
                <a16:creationId xmlns:a16="http://schemas.microsoft.com/office/drawing/2014/main" id="{D42AB4FC-8045-85D3-375D-5478E43F6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3236" y="5532194"/>
            <a:ext cx="976004" cy="21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0950FA-8A40-1D64-4126-1F124510C2D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8869" y="5480118"/>
            <a:ext cx="1045122" cy="410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6EA9CA-20BC-1DE8-50EF-0FB7725A7D99}"/>
              </a:ext>
            </a:extLst>
          </p:cNvPr>
          <p:cNvSpPr txBox="1"/>
          <p:nvPr/>
        </p:nvSpPr>
        <p:spPr>
          <a:xfrm>
            <a:off x="1140311" y="2377846"/>
            <a:ext cx="135855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Graphik" panose="020B0503030202060203" pitchFamily="34" charset="0"/>
              </a:rPr>
              <a:t>CORE OFFERING</a:t>
            </a:r>
          </a:p>
          <a:p>
            <a:pPr marL="241289" indent="-167209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Online Payment Processing </a:t>
            </a:r>
          </a:p>
          <a:p>
            <a:pPr marL="241289" indent="-167209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POS Payment Processing </a:t>
            </a:r>
          </a:p>
          <a:p>
            <a:pPr marL="241289" indent="-167209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Merchant Acquiring</a:t>
            </a:r>
          </a:p>
          <a:p>
            <a:pPr marL="74079">
              <a:spcBef>
                <a:spcPts val="267"/>
              </a:spcBef>
            </a:pPr>
            <a:endParaRPr lang="en-US" sz="900">
              <a:latin typeface="Graphik" panose="020B050303020206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B73EF3-A6C6-64E2-ED44-BB646CCFE1E6}"/>
              </a:ext>
            </a:extLst>
          </p:cNvPr>
          <p:cNvSpPr/>
          <p:nvPr/>
        </p:nvSpPr>
        <p:spPr>
          <a:xfrm>
            <a:off x="1132812" y="3776571"/>
            <a:ext cx="1436852" cy="1038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079">
              <a:spcBef>
                <a:spcPts val="267"/>
              </a:spcBef>
            </a:pPr>
            <a:r>
              <a:rPr lang="en-US" sz="900" b="1" dirty="0">
                <a:latin typeface="Graphik" panose="020B0503030202060203" pitchFamily="34" charset="0"/>
              </a:rPr>
              <a:t>ADDED VALUE</a:t>
            </a:r>
          </a:p>
          <a:p>
            <a:pPr marL="296319" indent="-205307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Graphik" panose="020B0503030202060203" pitchFamily="34" charset="0"/>
              </a:rPr>
              <a:t>Risk Management </a:t>
            </a:r>
          </a:p>
          <a:p>
            <a:pPr marL="296319" indent="-205307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Graphik" panose="020B0503030202060203" pitchFamily="34" charset="0"/>
              </a:rPr>
              <a:t>Payment Optimization</a:t>
            </a:r>
          </a:p>
          <a:p>
            <a:pPr marL="296319" indent="-205307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 dirty="0">
                <a:latin typeface="Graphik" panose="020B0503030202060203" pitchFamily="34" charset="0"/>
              </a:rPr>
              <a:t>Data Insights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C36AC-A750-F9E6-50CB-420E76D63817}"/>
              </a:ext>
            </a:extLst>
          </p:cNvPr>
          <p:cNvSpPr txBox="1"/>
          <p:nvPr/>
        </p:nvSpPr>
        <p:spPr>
          <a:xfrm>
            <a:off x="4720521" y="2377846"/>
            <a:ext cx="1348867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Graphik" panose="020B0503030202060203" pitchFamily="34" charset="0"/>
              </a:rPr>
              <a:t>CORE OFFERING</a:t>
            </a:r>
          </a:p>
          <a:p>
            <a:pPr marL="184142" indent="-167209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Online and POS Payment Processing </a:t>
            </a:r>
          </a:p>
          <a:p>
            <a:pPr marL="184142" indent="-167209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Bundled all-in-one proposition</a:t>
            </a:r>
          </a:p>
          <a:p>
            <a:pPr marL="184142" indent="-167209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Merchant Acquiring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AEA5E6-AA9F-7752-4354-D14F3EB49E4A}"/>
              </a:ext>
            </a:extLst>
          </p:cNvPr>
          <p:cNvSpPr/>
          <p:nvPr/>
        </p:nvSpPr>
        <p:spPr>
          <a:xfrm>
            <a:off x="4680175" y="3776571"/>
            <a:ext cx="1436852" cy="1038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079">
              <a:spcBef>
                <a:spcPts val="267"/>
              </a:spcBef>
            </a:pPr>
            <a:r>
              <a:rPr lang="en-US" sz="900" b="1">
                <a:latin typeface="Graphik" panose="020B0503030202060203" pitchFamily="34" charset="0"/>
              </a:rPr>
              <a:t>ADDED VALUE</a:t>
            </a:r>
          </a:p>
          <a:p>
            <a:pPr marL="241289" indent="-205307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Fraud Prevention:</a:t>
            </a:r>
          </a:p>
          <a:p>
            <a:pPr marL="241289" indent="-205307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Data Analytics and Visualization </a:t>
            </a:r>
          </a:p>
          <a:p>
            <a:pPr marL="241289" indent="-205307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Additional payment types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BEFA8A-F7CC-4518-CC48-99ECE520872D}"/>
              </a:ext>
            </a:extLst>
          </p:cNvPr>
          <p:cNvSpPr txBox="1"/>
          <p:nvPr/>
        </p:nvSpPr>
        <p:spPr>
          <a:xfrm>
            <a:off x="2812909" y="2377846"/>
            <a:ext cx="1339177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latin typeface="Graphik" panose="020B0503030202060203" pitchFamily="34" charset="0"/>
              </a:rPr>
              <a:t>CORE OFFERING</a:t>
            </a:r>
          </a:p>
          <a:p>
            <a:pPr marL="184142" indent="-184142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POS Payment Processing </a:t>
            </a:r>
          </a:p>
          <a:p>
            <a:pPr marL="184142" indent="-184142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Bundled all-in-one proposition</a:t>
            </a:r>
          </a:p>
          <a:p>
            <a:pPr marL="184142" indent="-184142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Proprietary Hardware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49D82D-53EB-313F-55E0-42BB3F60DAC8}"/>
              </a:ext>
            </a:extLst>
          </p:cNvPr>
          <p:cNvSpPr/>
          <p:nvPr/>
        </p:nvSpPr>
        <p:spPr>
          <a:xfrm>
            <a:off x="2797602" y="3776571"/>
            <a:ext cx="143685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079">
              <a:spcBef>
                <a:spcPts val="267"/>
              </a:spcBef>
            </a:pPr>
            <a:r>
              <a:rPr lang="en-US" sz="900" b="1">
                <a:latin typeface="Graphik" panose="020B0503030202060203" pitchFamily="34" charset="0"/>
              </a:rPr>
              <a:t>ADDED VALUE</a:t>
            </a:r>
          </a:p>
          <a:p>
            <a:pPr marL="222240" indent="-222240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Data Analytics and Visualization</a:t>
            </a:r>
          </a:p>
          <a:p>
            <a:pPr marL="222240" indent="-222240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>
                <a:latin typeface="Graphik" panose="020B0503030202060203" pitchFamily="34" charset="0"/>
              </a:rPr>
              <a:t>P2P App and Card Issuing</a:t>
            </a:r>
          </a:p>
          <a:p>
            <a:pPr marL="222240" indent="-222240">
              <a:spcBef>
                <a:spcPts val="267"/>
              </a:spcBef>
              <a:buFont typeface="Courier New" panose="02070309020205020404" pitchFamily="49" charset="0"/>
              <a:buChar char="o"/>
            </a:pPr>
            <a:r>
              <a:rPr lang="en-US" sz="900" b="1">
                <a:latin typeface="Graphik" panose="020B0503030202060203" pitchFamily="34" charset="0"/>
              </a:rPr>
              <a:t>Banking Services </a:t>
            </a:r>
            <a:r>
              <a:rPr lang="en-US" sz="900">
                <a:latin typeface="Graphik" panose="020B0503030202060203" pitchFamily="34" charset="0"/>
              </a:rPr>
              <a:t>Cash Management &amp; Credit Lines</a:t>
            </a:r>
          </a:p>
        </p:txBody>
      </p:sp>
      <p:pic>
        <p:nvPicPr>
          <p:cNvPr id="16" name="Picture 2" descr="Finix Expands Its Payment Solution to New Customers: Tech-Savvy Merchant  Businesses">
            <a:extLst>
              <a:ext uri="{FF2B5EF4-FFF2-40B4-BE49-F238E27FC236}">
                <a16:creationId xmlns:a16="http://schemas.microsoft.com/office/drawing/2014/main" id="{23FDF5AE-563B-45FD-962F-700670E59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229" y="5432357"/>
            <a:ext cx="876118" cy="45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Solaris (credit institution) - Wikipedia">
            <a:extLst>
              <a:ext uri="{FF2B5EF4-FFF2-40B4-BE49-F238E27FC236}">
                <a16:creationId xmlns:a16="http://schemas.microsoft.com/office/drawing/2014/main" id="{32CF3282-1D67-74A4-ACBC-4BA8F8010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922" y="5413641"/>
            <a:ext cx="1229895" cy="52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369D659-68F4-ED8C-7146-65F1CD3C6066}"/>
              </a:ext>
            </a:extLst>
          </p:cNvPr>
          <p:cNvCxnSpPr>
            <a:cxnSpLocks/>
          </p:cNvCxnSpPr>
          <p:nvPr/>
        </p:nvCxnSpPr>
        <p:spPr>
          <a:xfrm>
            <a:off x="1173799" y="1701500"/>
            <a:ext cx="4902588" cy="0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80AC957-5E73-388B-8DD0-FC9C2A8BCE58}"/>
              </a:ext>
            </a:extLst>
          </p:cNvPr>
          <p:cNvSpPr txBox="1"/>
          <p:nvPr/>
        </p:nvSpPr>
        <p:spPr>
          <a:xfrm>
            <a:off x="1140311" y="1412264"/>
            <a:ext cx="41921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Example of companies' data to be used as references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6FF720-BDEC-C92C-9B40-1403362D85B5}"/>
              </a:ext>
            </a:extLst>
          </p:cNvPr>
          <p:cNvSpPr txBox="1"/>
          <p:nvPr/>
        </p:nvSpPr>
        <p:spPr>
          <a:xfrm>
            <a:off x="1169007" y="5177429"/>
            <a:ext cx="40238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Other companies can be chosen during the project</a:t>
            </a:r>
          </a:p>
        </p:txBody>
      </p:sp>
      <p:pic>
        <p:nvPicPr>
          <p:cNvPr id="21" name="Picture 6" descr="Monzo Bank - CDTM">
            <a:extLst>
              <a:ext uri="{FF2B5EF4-FFF2-40B4-BE49-F238E27FC236}">
                <a16:creationId xmlns:a16="http://schemas.microsoft.com/office/drawing/2014/main" id="{DE273C5A-B39D-3C2A-099E-C99D1FEE5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224" y="5908719"/>
            <a:ext cx="1179621" cy="26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8" descr="Starling Bank - Wikipedia">
            <a:extLst>
              <a:ext uri="{FF2B5EF4-FFF2-40B4-BE49-F238E27FC236}">
                <a16:creationId xmlns:a16="http://schemas.microsoft.com/office/drawing/2014/main" id="{EEC5B578-0EB7-FBC1-EED0-D8B6A52BD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860" y="5833029"/>
            <a:ext cx="953059" cy="42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Marqeta logo - Ícones Social media e Logos">
            <a:extLst>
              <a:ext uri="{FF2B5EF4-FFF2-40B4-BE49-F238E27FC236}">
                <a16:creationId xmlns:a16="http://schemas.microsoft.com/office/drawing/2014/main" id="{F002B597-B9C4-7027-6559-771067C739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58" b="29372"/>
          <a:stretch/>
        </p:blipFill>
        <p:spPr bwMode="auto">
          <a:xfrm>
            <a:off x="3960145" y="5932369"/>
            <a:ext cx="950579" cy="22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931C33C-A825-8D3E-44BF-546A69032A2B}"/>
              </a:ext>
            </a:extLst>
          </p:cNvPr>
          <p:cNvSpPr txBox="1"/>
          <p:nvPr/>
        </p:nvSpPr>
        <p:spPr>
          <a:xfrm>
            <a:off x="4918739" y="5738024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128ED1-DBBA-4496-DE07-B1489BF3B58C}"/>
              </a:ext>
            </a:extLst>
          </p:cNvPr>
          <p:cNvSpPr/>
          <p:nvPr/>
        </p:nvSpPr>
        <p:spPr>
          <a:xfrm>
            <a:off x="4669840" y="1808491"/>
            <a:ext cx="1399090" cy="32794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9C1610-A540-3A87-CC7D-3E2C221C67C4}"/>
              </a:ext>
            </a:extLst>
          </p:cNvPr>
          <p:cNvSpPr txBox="1"/>
          <p:nvPr/>
        </p:nvSpPr>
        <p:spPr>
          <a:xfrm>
            <a:off x="7417339" y="1489545"/>
            <a:ext cx="3729172" cy="4564014"/>
          </a:xfrm>
          <a:prstGeom prst="roundRect">
            <a:avLst>
              <a:gd name="adj" fmla="val 3284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lang="en-US" sz="1000" b="1"/>
              <a:t>Stripe’s Ideal </a:t>
            </a:r>
            <a:r>
              <a:rPr lang="en-US" sz="1000" b="1">
                <a:solidFill>
                  <a:schemeClr val="accent1"/>
                </a:solidFill>
              </a:rPr>
              <a:t>customer profile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Businesses with direct online payments;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Online retailers (physical goods);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Any B2C with online payments;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Online-first retailers;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Not targeting brick-and-mortar (unless launching digital);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en-US" sz="1000" b="1"/>
              <a:t>Key challenges </a:t>
            </a:r>
            <a:r>
              <a:rPr lang="en-US" sz="1000" b="1">
                <a:solidFill>
                  <a:schemeClr val="accent1"/>
                </a:solidFill>
              </a:rPr>
              <a:t>Stripe helps </a:t>
            </a:r>
            <a:r>
              <a:rPr lang="en-US" sz="1000" b="1"/>
              <a:t>solve: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Checkout drop-offs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Fraud &amp; chargebacks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Low conversion in new markets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Reliability &amp; compliance risks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Fragmented customer data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Operational inefficiencies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en-US" sz="1000" b="1">
                <a:solidFill>
                  <a:schemeClr val="accent1"/>
                </a:solidFill>
              </a:rPr>
              <a:t>Why Stripe wins</a:t>
            </a:r>
            <a:r>
              <a:rPr lang="en-US" sz="1000" b="1"/>
              <a:t>: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Boosts revenue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Cuts costs &amp; fraud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Expands global reach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Enables recurring revenue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Unifies payment experiences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/>
              <a:t>Combines online &amp; in-person payments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E14863-9FBA-466E-5545-04F59B4D14E3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6068930" y="3448220"/>
            <a:ext cx="13484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3807C616-C06C-14CF-D322-5517A1EEDC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7631" y="1549827"/>
            <a:ext cx="723194" cy="34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37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191</Words>
  <Application>Microsoft Office PowerPoint</Application>
  <PresentationFormat>Widescreen</PresentationFormat>
  <Paragraphs>51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Courier New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2025-11-01T00:12:26Z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