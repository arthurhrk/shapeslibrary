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E09CE6-D87E-BF5E-33D0-CC75DB3918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E8D057-862E-2327-D7A9-132E9569D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07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694988-2C77-FFB4-DD00-7162AF0CAE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F98AD-A7A2-5DE9-08B0-58D7A178DA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256C54-ADCE-FC11-DC0B-49BE07848081}"/>
              </a:ext>
            </a:extLst>
          </p:cNvPr>
          <p:cNvGrpSpPr/>
          <p:nvPr/>
        </p:nvGrpSpPr>
        <p:grpSpPr>
          <a:xfrm>
            <a:off x="350680" y="1322522"/>
            <a:ext cx="1397273" cy="4781724"/>
            <a:chOff x="350679" y="1412035"/>
            <a:chExt cx="1723677" cy="47817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5E47D6-0697-B75F-8947-6244752892FF}"/>
                </a:ext>
              </a:extLst>
            </p:cNvPr>
            <p:cNvGrpSpPr/>
            <p:nvPr/>
          </p:nvGrpSpPr>
          <p:grpSpPr>
            <a:xfrm>
              <a:off x="350679" y="1412035"/>
              <a:ext cx="1723677" cy="4781724"/>
              <a:chOff x="350679" y="1412035"/>
              <a:chExt cx="1860528" cy="478172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056514B-A679-676B-A05E-900C62ECDB3A}"/>
                  </a:ext>
                </a:extLst>
              </p:cNvPr>
              <p:cNvSpPr/>
              <p:nvPr/>
            </p:nvSpPr>
            <p:spPr>
              <a:xfrm>
                <a:off x="350679" y="1638537"/>
                <a:ext cx="1860528" cy="45552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DD6F76F-C03C-B22B-CB13-4F8D6977D355}"/>
                  </a:ext>
                </a:extLst>
              </p:cNvPr>
              <p:cNvSpPr/>
              <p:nvPr/>
            </p:nvSpPr>
            <p:spPr>
              <a:xfrm>
                <a:off x="350679" y="1412035"/>
                <a:ext cx="1860528" cy="22650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/>
                  <a:t>Project setup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B59D95-3650-D074-9992-C912C85FDB3F}"/>
                </a:ext>
              </a:extLst>
            </p:cNvPr>
            <p:cNvSpPr/>
            <p:nvPr/>
          </p:nvSpPr>
          <p:spPr>
            <a:xfrm>
              <a:off x="492990" y="2298737"/>
              <a:ext cx="1460770" cy="735151"/>
            </a:xfrm>
            <a:prstGeom prst="rect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>
                <a:spcBef>
                  <a:spcPts val="300"/>
                </a:spcBef>
              </a:pPr>
              <a:r>
                <a:rPr lang="en-US"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Graphik" panose="020B0503030202060203" pitchFamily="34" charset="0"/>
                </a:rPr>
                <a:t>Data Request Submission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1583FF-592A-EDC1-8904-66126C9D03F5}"/>
                </a:ext>
              </a:extLst>
            </p:cNvPr>
            <p:cNvSpPr/>
            <p:nvPr/>
          </p:nvSpPr>
          <p:spPr>
            <a:xfrm>
              <a:off x="492990" y="3236906"/>
              <a:ext cx="1460770" cy="735151"/>
            </a:xfrm>
            <a:prstGeom prst="rect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>
                <a:spcBef>
                  <a:spcPts val="300"/>
                </a:spcBef>
              </a:pPr>
              <a:r>
                <a:rPr lang="en-US"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Graphik" panose="020B0503030202060203" pitchFamily="34" charset="0"/>
                </a:rPr>
                <a:t>Interviews scheduling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5C0661-CB0F-A6BE-174C-CE4B5E3F2CA9}"/>
                </a:ext>
              </a:extLst>
            </p:cNvPr>
            <p:cNvSpPr/>
            <p:nvPr/>
          </p:nvSpPr>
          <p:spPr>
            <a:xfrm>
              <a:off x="492990" y="4175075"/>
              <a:ext cx="1460770" cy="735151"/>
            </a:xfrm>
            <a:prstGeom prst="rect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>
                <a:spcBef>
                  <a:spcPts val="300"/>
                </a:spcBef>
              </a:pPr>
              <a:r>
                <a:rPr lang="en-US"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Graphik" panose="020B0503030202060203" pitchFamily="34" charset="0"/>
                </a:rPr>
                <a:t>Workshops scheduling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02D3E6-335F-AE5F-6E04-0204F70D1814}"/>
                </a:ext>
              </a:extLst>
            </p:cNvPr>
            <p:cNvSpPr/>
            <p:nvPr/>
          </p:nvSpPr>
          <p:spPr>
            <a:xfrm>
              <a:off x="492990" y="5113244"/>
              <a:ext cx="1460770" cy="735151"/>
            </a:xfrm>
            <a:prstGeom prst="rect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>
                <a:spcBef>
                  <a:spcPts val="300"/>
                </a:spcBef>
              </a:pPr>
              <a:r>
                <a:rPr lang="en-US"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Graphik" panose="020B0503030202060203" pitchFamily="34" charset="0"/>
                </a:rPr>
                <a:t>Final validations agenda</a:t>
              </a:r>
            </a:p>
          </p:txBody>
        </p:sp>
      </p:grp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8DB71A7-F43E-B2C4-C8AB-F5B57F2ADEEC}"/>
              </a:ext>
            </a:extLst>
          </p:cNvPr>
          <p:cNvSpPr/>
          <p:nvPr/>
        </p:nvSpPr>
        <p:spPr>
          <a:xfrm>
            <a:off x="1747953" y="6181167"/>
            <a:ext cx="182697" cy="12834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6C0C36-9A04-DA3D-2CD2-302C02326B01}"/>
              </a:ext>
            </a:extLst>
          </p:cNvPr>
          <p:cNvSpPr txBox="1"/>
          <p:nvPr/>
        </p:nvSpPr>
        <p:spPr>
          <a:xfrm>
            <a:off x="1930650" y="6130991"/>
            <a:ext cx="16590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Kick-off (26/Ago)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7C89113-CF51-E8E8-EC56-4438D6EBCACC}"/>
              </a:ext>
            </a:extLst>
          </p:cNvPr>
          <p:cNvSpPr/>
          <p:nvPr/>
        </p:nvSpPr>
        <p:spPr>
          <a:xfrm>
            <a:off x="11684230" y="6181167"/>
            <a:ext cx="182697" cy="12834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A78F8F-D5C8-7926-5956-0D6055E1E297}"/>
              </a:ext>
            </a:extLst>
          </p:cNvPr>
          <p:cNvSpPr txBox="1"/>
          <p:nvPr/>
        </p:nvSpPr>
        <p:spPr>
          <a:xfrm>
            <a:off x="9581418" y="6118379"/>
            <a:ext cx="2158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/>
              <a:t>Strategy readout (19/Set)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014A6FF-8746-3198-9265-632AC4D88459}"/>
              </a:ext>
            </a:extLst>
          </p:cNvPr>
          <p:cNvCxnSpPr>
            <a:cxnSpLocks/>
            <a:stCxn id="10" idx="3"/>
            <a:endCxn id="23" idx="1"/>
          </p:cNvCxnSpPr>
          <p:nvPr/>
        </p:nvCxnSpPr>
        <p:spPr>
          <a:xfrm flipV="1">
            <a:off x="1747953" y="1435773"/>
            <a:ext cx="182696" cy="239086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D0D1C8D-E556-B961-8126-E020E6EE989F}"/>
              </a:ext>
            </a:extLst>
          </p:cNvPr>
          <p:cNvSpPr/>
          <p:nvPr/>
        </p:nvSpPr>
        <p:spPr>
          <a:xfrm rot="16200000">
            <a:off x="9369387" y="3638385"/>
            <a:ext cx="4781724" cy="149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Presentation with Europe Team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8DF1EC-35E8-C529-7EFC-D0708E3A45AF}"/>
              </a:ext>
            </a:extLst>
          </p:cNvPr>
          <p:cNvGrpSpPr/>
          <p:nvPr/>
        </p:nvGrpSpPr>
        <p:grpSpPr>
          <a:xfrm>
            <a:off x="1930649" y="1549024"/>
            <a:ext cx="8191549" cy="4555222"/>
            <a:chOff x="2164360" y="1577131"/>
            <a:chExt cx="7209856" cy="318782"/>
          </a:xfrm>
          <a:solidFill>
            <a:schemeClr val="bg1">
              <a:lumMod val="95000"/>
            </a:schemeClr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990711-600B-1984-ABE6-1B650316E31A}"/>
                </a:ext>
              </a:extLst>
            </p:cNvPr>
            <p:cNvSpPr/>
            <p:nvPr/>
          </p:nvSpPr>
          <p:spPr>
            <a:xfrm>
              <a:off x="2164360" y="1577131"/>
              <a:ext cx="2357604" cy="318782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009EE0-4A1D-ED7C-2B86-2CF858416C83}"/>
                </a:ext>
              </a:extLst>
            </p:cNvPr>
            <p:cNvSpPr/>
            <p:nvPr/>
          </p:nvSpPr>
          <p:spPr>
            <a:xfrm>
              <a:off x="4590486" y="1577131"/>
              <a:ext cx="2357604" cy="318782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C80671B-CD1E-0721-202F-1D484448A90A}"/>
                </a:ext>
              </a:extLst>
            </p:cNvPr>
            <p:cNvSpPr/>
            <p:nvPr/>
          </p:nvSpPr>
          <p:spPr>
            <a:xfrm>
              <a:off x="7016612" y="1577131"/>
              <a:ext cx="2357604" cy="318782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3C19A-5AB4-1E16-90B5-CE23E9B15374}"/>
              </a:ext>
            </a:extLst>
          </p:cNvPr>
          <p:cNvSpPr/>
          <p:nvPr/>
        </p:nvSpPr>
        <p:spPr>
          <a:xfrm>
            <a:off x="10207931" y="1549024"/>
            <a:ext cx="1444632" cy="4555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B8D57E-7905-D4D1-5193-98FD08980455}"/>
              </a:ext>
            </a:extLst>
          </p:cNvPr>
          <p:cNvSpPr/>
          <p:nvPr/>
        </p:nvSpPr>
        <p:spPr>
          <a:xfrm>
            <a:off x="1930649" y="1322522"/>
            <a:ext cx="2678615" cy="226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Context, </a:t>
            </a:r>
            <a:r>
              <a:rPr lang="en-US" sz="1200" b="1" dirty="0" err="1"/>
              <a:t>Benchs</a:t>
            </a:r>
            <a:r>
              <a:rPr lang="en-US" sz="1200" b="1" dirty="0"/>
              <a:t> &amp; Ambition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D1A507-83F9-50C6-E328-B6133380B420}"/>
              </a:ext>
            </a:extLst>
          </p:cNvPr>
          <p:cNvSpPr/>
          <p:nvPr/>
        </p:nvSpPr>
        <p:spPr>
          <a:xfrm>
            <a:off x="4687116" y="1322522"/>
            <a:ext cx="2678615" cy="226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Scenarios analysis</a:t>
            </a:r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9AD7B5-A168-C3EF-DEA9-C24341713065}"/>
              </a:ext>
            </a:extLst>
          </p:cNvPr>
          <p:cNvSpPr/>
          <p:nvPr/>
        </p:nvSpPr>
        <p:spPr>
          <a:xfrm>
            <a:off x="7443583" y="1322522"/>
            <a:ext cx="2678615" cy="226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Financial modeling &amp; roadmap</a:t>
            </a: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F2A5B0-D2AC-0AA3-FFF4-BC5A9340642F}"/>
              </a:ext>
            </a:extLst>
          </p:cNvPr>
          <p:cNvSpPr/>
          <p:nvPr/>
        </p:nvSpPr>
        <p:spPr>
          <a:xfrm>
            <a:off x="10207929" y="1322522"/>
            <a:ext cx="1444632" cy="226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/>
              <a:t>Integration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8AC0AE-CF3A-0327-68BD-2559F40465D2}"/>
              </a:ext>
            </a:extLst>
          </p:cNvPr>
          <p:cNvSpPr/>
          <p:nvPr/>
        </p:nvSpPr>
        <p:spPr>
          <a:xfrm>
            <a:off x="2175936" y="1743667"/>
            <a:ext cx="2188039" cy="7351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spcBef>
                <a:spcPts val="300"/>
              </a:spcBef>
            </a:pPr>
            <a:r>
              <a:rPr lang="en-US" sz="1000" b="1" dirty="0">
                <a:solidFill>
                  <a:schemeClr val="tx1"/>
                </a:solidFill>
                <a:latin typeface="Graphik" panose="020B0503030202060203" pitchFamily="34" charset="0"/>
              </a:rPr>
              <a:t>Vision and strategic drivers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1FBE10-BAC3-3880-DD71-05076EB8E9EE}"/>
              </a:ext>
            </a:extLst>
          </p:cNvPr>
          <p:cNvSpPr/>
          <p:nvPr/>
        </p:nvSpPr>
        <p:spPr>
          <a:xfrm>
            <a:off x="2175936" y="2597577"/>
            <a:ext cx="2188039" cy="7351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spcBef>
                <a:spcPts val="300"/>
              </a:spcBef>
            </a:pPr>
            <a: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  <a:t>Current state analysis </a:t>
            </a:r>
            <a:b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</a:br>
            <a:r>
              <a:rPr lang="en-US" sz="1000">
                <a:solidFill>
                  <a:schemeClr val="tx1"/>
                </a:solidFill>
                <a:latin typeface="Graphik" panose="020B0503030202060203" pitchFamily="34" charset="0"/>
              </a:rPr>
              <a:t>(high level)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2DD550-65B0-D60B-3C9B-246B2E872A8F}"/>
              </a:ext>
            </a:extLst>
          </p:cNvPr>
          <p:cNvSpPr/>
          <p:nvPr/>
        </p:nvSpPr>
        <p:spPr>
          <a:xfrm>
            <a:off x="2175936" y="3466631"/>
            <a:ext cx="2188039" cy="7351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spcBef>
                <a:spcPts val="300"/>
              </a:spcBef>
            </a:pPr>
            <a: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  <a:t>Payments platforms overall benchmarks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778C35-285A-DE58-E5FB-36CDEBC1ECD8}"/>
              </a:ext>
            </a:extLst>
          </p:cNvPr>
          <p:cNvSpPr/>
          <p:nvPr/>
        </p:nvSpPr>
        <p:spPr>
          <a:xfrm>
            <a:off x="2175936" y="4320542"/>
            <a:ext cx="2188039" cy="7351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spcBef>
                <a:spcPts val="300"/>
              </a:spcBef>
            </a:pPr>
            <a: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  <a:t>Growth hypotheses and scenarios definition </a:t>
            </a:r>
            <a:b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</a:br>
            <a:r>
              <a:rPr lang="en-US" sz="1000">
                <a:solidFill>
                  <a:schemeClr val="tx1"/>
                </a:solidFill>
                <a:latin typeface="Graphik" panose="020B0503030202060203" pitchFamily="34" charset="0"/>
              </a:rPr>
              <a:t>(up to three)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042C03-D82B-378E-6CCB-5EEBE464B484}"/>
              </a:ext>
            </a:extLst>
          </p:cNvPr>
          <p:cNvSpPr/>
          <p:nvPr/>
        </p:nvSpPr>
        <p:spPr>
          <a:xfrm>
            <a:off x="2175936" y="5174452"/>
            <a:ext cx="2188039" cy="7351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spcBef>
                <a:spcPts val="300"/>
              </a:spcBef>
            </a:pPr>
            <a: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  <a:t>Confirmation of main KPIs</a:t>
            </a:r>
            <a:b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</a:br>
            <a:r>
              <a:rPr lang="en-US" sz="900">
                <a:solidFill>
                  <a:schemeClr val="tx1"/>
                </a:solidFill>
                <a:latin typeface="Graphik" panose="020B0503030202060203" pitchFamily="34" charset="0"/>
              </a:rPr>
              <a:t>(e.g. Transactional costs or EBITDA)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D9C5B8-CBF2-031E-76CF-D46156231A65}"/>
              </a:ext>
            </a:extLst>
          </p:cNvPr>
          <p:cNvSpPr/>
          <p:nvPr/>
        </p:nvSpPr>
        <p:spPr>
          <a:xfrm>
            <a:off x="4771180" y="1743666"/>
            <a:ext cx="4445363" cy="219591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0" rtlCol="0" anchor="t"/>
          <a:lstStyle/>
          <a:p>
            <a:pPr>
              <a:spcBef>
                <a:spcPts val="300"/>
              </a:spcBef>
            </a:pPr>
            <a:r>
              <a:rPr lang="en-US" sz="800" b="1">
                <a:solidFill>
                  <a:schemeClr val="tx1"/>
                </a:solidFill>
                <a:latin typeface="Graphik" panose="020B0503030202060203" pitchFamily="34" charset="0"/>
              </a:rPr>
              <a:t>Scenario #3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F2D11F-FB46-E3DC-DB49-4A4CC396EDF0}"/>
              </a:ext>
            </a:extLst>
          </p:cNvPr>
          <p:cNvSpPr/>
          <p:nvPr/>
        </p:nvSpPr>
        <p:spPr>
          <a:xfrm>
            <a:off x="4846556" y="1929689"/>
            <a:ext cx="4445363" cy="219591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0" rtlCol="0" anchor="t"/>
          <a:lstStyle/>
          <a:p>
            <a:pPr>
              <a:spcBef>
                <a:spcPts val="300"/>
              </a:spcBef>
            </a:pPr>
            <a:r>
              <a:rPr lang="en-US" sz="800" b="1">
                <a:solidFill>
                  <a:schemeClr val="tx1"/>
                </a:solidFill>
                <a:latin typeface="Graphik" panose="020B0503030202060203" pitchFamily="34" charset="0"/>
              </a:rPr>
              <a:t>Scenario #2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FBEBBE-A10A-EAAB-C336-37936BCAF945}"/>
              </a:ext>
            </a:extLst>
          </p:cNvPr>
          <p:cNvSpPr/>
          <p:nvPr/>
        </p:nvSpPr>
        <p:spPr>
          <a:xfrm>
            <a:off x="4921933" y="2124628"/>
            <a:ext cx="4445363" cy="219591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0" rtlCol="0" anchor="t"/>
          <a:lstStyle/>
          <a:p>
            <a:pPr>
              <a:spcBef>
                <a:spcPts val="300"/>
              </a:spcBef>
            </a:pPr>
            <a:r>
              <a:rPr lang="en-US" sz="800" b="1">
                <a:solidFill>
                  <a:schemeClr val="tx1"/>
                </a:solidFill>
                <a:latin typeface="Graphik" panose="020B0503030202060203" pitchFamily="34" charset="0"/>
              </a:rPr>
              <a:t>Scenario #1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92F530-8258-50E5-AC7C-4F29D624AB1F}"/>
              </a:ext>
            </a:extLst>
          </p:cNvPr>
          <p:cNvSpPr/>
          <p:nvPr/>
        </p:nvSpPr>
        <p:spPr>
          <a:xfrm>
            <a:off x="5049847" y="2443860"/>
            <a:ext cx="2371700" cy="3435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Benchmark for the scenario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F8454C-B993-79D4-2666-DA3822DB3C3D}"/>
              </a:ext>
            </a:extLst>
          </p:cNvPr>
          <p:cNvSpPr/>
          <p:nvPr/>
        </p:nvSpPr>
        <p:spPr>
          <a:xfrm>
            <a:off x="5049847" y="2887779"/>
            <a:ext cx="2371700" cy="3435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Growth / costs levers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FA3B00-0999-08F3-6B6E-E92013EF923B}"/>
              </a:ext>
            </a:extLst>
          </p:cNvPr>
          <p:cNvSpPr/>
          <p:nvPr/>
        </p:nvSpPr>
        <p:spPr>
          <a:xfrm>
            <a:off x="5049847" y="3347874"/>
            <a:ext cx="2371700" cy="3435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108000" bIns="3600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Technology requirements and conceptual architecture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327AA5-ACC8-D2EB-1BA9-BF91CF2F051F}"/>
              </a:ext>
            </a:extLst>
          </p:cNvPr>
          <p:cNvSpPr/>
          <p:nvPr/>
        </p:nvSpPr>
        <p:spPr>
          <a:xfrm>
            <a:off x="5049847" y="3802612"/>
            <a:ext cx="2371700" cy="3435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Foundations impacts/needs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860522-FDF4-F115-4C9B-4B87D5A57FFC}"/>
              </a:ext>
            </a:extLst>
          </p:cNvPr>
          <p:cNvSpPr/>
          <p:nvPr/>
        </p:nvSpPr>
        <p:spPr>
          <a:xfrm>
            <a:off x="7549461" y="2443858"/>
            <a:ext cx="1686011" cy="93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Financial modeling</a:t>
            </a:r>
            <a:br>
              <a:rPr lang="en-US" sz="1000" b="1">
                <a:solidFill>
                  <a:schemeClr val="tx1"/>
                </a:solidFill>
              </a:rPr>
            </a:br>
            <a:r>
              <a:rPr lang="en-US" sz="1000">
                <a:solidFill>
                  <a:schemeClr val="tx1"/>
                </a:solidFill>
              </a:rPr>
              <a:t>(how KPIs are impacted)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658B289-C00A-EC55-1059-1042317464BA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 flipV="1">
            <a:off x="4363975" y="3222585"/>
            <a:ext cx="557958" cy="1465533"/>
          </a:xfrm>
          <a:prstGeom prst="bentConnector3">
            <a:avLst>
              <a:gd name="adj1" fmla="val 305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FD43C70-F16B-E979-418D-CCAE22A21D0B}"/>
              </a:ext>
            </a:extLst>
          </p:cNvPr>
          <p:cNvCxnSpPr>
            <a:cxnSpLocks/>
            <a:stCxn id="31" idx="3"/>
            <a:endCxn id="34" idx="1"/>
          </p:cNvCxnSpPr>
          <p:nvPr/>
        </p:nvCxnSpPr>
        <p:spPr>
          <a:xfrm flipV="1">
            <a:off x="4363975" y="3222585"/>
            <a:ext cx="557958" cy="2319443"/>
          </a:xfrm>
          <a:prstGeom prst="bentConnector3">
            <a:avLst>
              <a:gd name="adj1" fmla="val 305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26E28E6-A0B6-5699-F142-9F42436D763B}"/>
              </a:ext>
            </a:extLst>
          </p:cNvPr>
          <p:cNvCxnSpPr>
            <a:cxnSpLocks/>
            <a:stCxn id="27" idx="1"/>
            <a:endCxn id="30" idx="1"/>
          </p:cNvCxnSpPr>
          <p:nvPr/>
        </p:nvCxnSpPr>
        <p:spPr>
          <a:xfrm rot="10800000" flipV="1">
            <a:off x="2175936" y="2111242"/>
            <a:ext cx="14156" cy="2576875"/>
          </a:xfrm>
          <a:prstGeom prst="bentConnector3">
            <a:avLst>
              <a:gd name="adj1" fmla="val 1282885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A0151A4-4E1A-B3F4-EC0D-C8B3F1145DDE}"/>
              </a:ext>
            </a:extLst>
          </p:cNvPr>
          <p:cNvCxnSpPr>
            <a:cxnSpLocks/>
            <a:stCxn id="28" idx="1"/>
            <a:endCxn id="30" idx="1"/>
          </p:cNvCxnSpPr>
          <p:nvPr/>
        </p:nvCxnSpPr>
        <p:spPr>
          <a:xfrm rot="10800000" flipV="1">
            <a:off x="2175936" y="2965152"/>
            <a:ext cx="14156" cy="1722965"/>
          </a:xfrm>
          <a:prstGeom prst="bentConnector3">
            <a:avLst>
              <a:gd name="adj1" fmla="val 1282885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9DB715F-95DF-5B8E-13C4-FD8AAFD31D88}"/>
              </a:ext>
            </a:extLst>
          </p:cNvPr>
          <p:cNvCxnSpPr>
            <a:cxnSpLocks/>
            <a:stCxn id="29" idx="1"/>
            <a:endCxn id="30" idx="1"/>
          </p:cNvCxnSpPr>
          <p:nvPr/>
        </p:nvCxnSpPr>
        <p:spPr>
          <a:xfrm rot="10800000" flipV="1">
            <a:off x="2175936" y="3834206"/>
            <a:ext cx="14156" cy="853911"/>
          </a:xfrm>
          <a:prstGeom prst="bentConnector3">
            <a:avLst>
              <a:gd name="adj1" fmla="val 1282885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576C45C-E7DC-58AE-E22F-562F43ABF844}"/>
              </a:ext>
            </a:extLst>
          </p:cNvPr>
          <p:cNvSpPr/>
          <p:nvPr/>
        </p:nvSpPr>
        <p:spPr>
          <a:xfrm>
            <a:off x="4911397" y="4547044"/>
            <a:ext cx="2708399" cy="13625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 algn="ctr">
              <a:spcBef>
                <a:spcPts val="300"/>
              </a:spcBef>
            </a:pPr>
            <a: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  <a:t>Foundations Guidelines &amp; Implications</a:t>
            </a:r>
            <a:endParaRPr lang="en-US" sz="90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5CC8CEA-84E2-67C9-E324-7100671FAE93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6235697" y="4146164"/>
            <a:ext cx="0" cy="4008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AA9F146-255B-1E13-F6C2-59505DE5115B}"/>
              </a:ext>
            </a:extLst>
          </p:cNvPr>
          <p:cNvSpPr/>
          <p:nvPr/>
        </p:nvSpPr>
        <p:spPr>
          <a:xfrm>
            <a:off x="7757330" y="1743666"/>
            <a:ext cx="3790467" cy="4165936"/>
          </a:xfrm>
          <a:custGeom>
            <a:avLst/>
            <a:gdLst>
              <a:gd name="connsiteX0" fmla="*/ 1767592 w 3642062"/>
              <a:gd name="connsiteY0" fmla="*/ 0 h 4165936"/>
              <a:gd name="connsiteX1" fmla="*/ 3642062 w 3642062"/>
              <a:gd name="connsiteY1" fmla="*/ 0 h 4165936"/>
              <a:gd name="connsiteX2" fmla="*/ 3642062 w 3642062"/>
              <a:gd name="connsiteY2" fmla="*/ 4165936 h 4165936"/>
              <a:gd name="connsiteX3" fmla="*/ 1787687 w 3642062"/>
              <a:gd name="connsiteY3" fmla="*/ 4165936 h 4165936"/>
              <a:gd name="connsiteX4" fmla="*/ 1767592 w 3642062"/>
              <a:gd name="connsiteY4" fmla="*/ 4165936 h 4165936"/>
              <a:gd name="connsiteX5" fmla="*/ 0 w 3642062"/>
              <a:gd name="connsiteY5" fmla="*/ 4165936 h 4165936"/>
              <a:gd name="connsiteX6" fmla="*/ 0 w 3642062"/>
              <a:gd name="connsiteY6" fmla="*/ 2803377 h 4165936"/>
              <a:gd name="connsiteX7" fmla="*/ 1767592 w 3642062"/>
              <a:gd name="connsiteY7" fmla="*/ 2803377 h 4165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2062" h="4165936">
                <a:moveTo>
                  <a:pt x="1767592" y="0"/>
                </a:moveTo>
                <a:lnTo>
                  <a:pt x="3642062" y="0"/>
                </a:lnTo>
                <a:lnTo>
                  <a:pt x="3642062" y="4165936"/>
                </a:lnTo>
                <a:lnTo>
                  <a:pt x="1787687" y="4165936"/>
                </a:lnTo>
                <a:lnTo>
                  <a:pt x="1767592" y="4165936"/>
                </a:lnTo>
                <a:lnTo>
                  <a:pt x="0" y="4165936"/>
                </a:lnTo>
                <a:lnTo>
                  <a:pt x="0" y="2803377"/>
                </a:lnTo>
                <a:lnTo>
                  <a:pt x="1767592" y="2803377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t">
            <a:noAutofit/>
          </a:bodyPr>
          <a:lstStyle/>
          <a:p>
            <a:pPr algn="ctr">
              <a:spcBef>
                <a:spcPts val="300"/>
              </a:spcBef>
            </a:pPr>
            <a:endParaRPr lang="en-US" sz="90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9BB65-B914-9A54-1530-58A0D2BB1BBC}"/>
              </a:ext>
            </a:extLst>
          </p:cNvPr>
          <p:cNvSpPr txBox="1"/>
          <p:nvPr/>
        </p:nvSpPr>
        <p:spPr>
          <a:xfrm>
            <a:off x="9747088" y="3647360"/>
            <a:ext cx="1756940" cy="156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50" u="sng"/>
              <a:t>Preliminary content:</a:t>
            </a:r>
          </a:p>
          <a:p>
            <a:pPr marL="108000" indent="-108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Vision &amp; ambition</a:t>
            </a:r>
          </a:p>
          <a:p>
            <a:pPr marL="108000" indent="-108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Growth and tech scenarios</a:t>
            </a:r>
          </a:p>
          <a:p>
            <a:pPr marL="108000" indent="-108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Benefits unleased </a:t>
            </a:r>
          </a:p>
          <a:p>
            <a:pPr marL="108000" indent="-108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High-level roadmap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5773ED1-1385-44EF-8CC9-321E7F688E4D}"/>
              </a:ext>
            </a:extLst>
          </p:cNvPr>
          <p:cNvSpPr/>
          <p:nvPr/>
        </p:nvSpPr>
        <p:spPr>
          <a:xfrm>
            <a:off x="9715716" y="3268345"/>
            <a:ext cx="1681704" cy="1902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1000" b="1">
                <a:solidFill>
                  <a:schemeClr val="tx1"/>
                </a:solidFill>
                <a:latin typeface="Graphik" panose="020B0503030202060203" pitchFamily="34" charset="0"/>
              </a:rPr>
              <a:t>Consolidated strategy</a:t>
            </a:r>
            <a:endParaRPr lang="en-US" sz="90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96334C-08B5-9129-4B4C-9020549F97EE}"/>
              </a:ext>
            </a:extLst>
          </p:cNvPr>
          <p:cNvSpPr/>
          <p:nvPr/>
        </p:nvSpPr>
        <p:spPr>
          <a:xfrm>
            <a:off x="7549462" y="3492503"/>
            <a:ext cx="1667083" cy="6670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Strategic initiatives required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C11BEE-92CA-9A09-A5D3-6CD2D092DFA8}"/>
              </a:ext>
            </a:extLst>
          </p:cNvPr>
          <p:cNvSpPr txBox="1"/>
          <p:nvPr/>
        </p:nvSpPr>
        <p:spPr>
          <a:xfrm>
            <a:off x="5023326" y="4872266"/>
            <a:ext cx="24899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Resource plan</a:t>
            </a:r>
          </a:p>
          <a:p>
            <a:pPr marL="108000" indent="-10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Risk management</a:t>
            </a:r>
          </a:p>
          <a:p>
            <a:pPr marL="108000" indent="-10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Governance &amp; metrics</a:t>
            </a:r>
          </a:p>
          <a:p>
            <a:pPr marL="108000" indent="-10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i="1"/>
              <a:t>Change Management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2887213-47A5-485C-7AF3-59942D7D3B9E}"/>
              </a:ext>
            </a:extLst>
          </p:cNvPr>
          <p:cNvSpPr/>
          <p:nvPr/>
        </p:nvSpPr>
        <p:spPr>
          <a:xfrm>
            <a:off x="4106842" y="3160681"/>
            <a:ext cx="224802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800" dirty="0" err="1">
                <a:solidFill>
                  <a:schemeClr val="accent4">
                    <a:lumMod val="75000"/>
                  </a:schemeClr>
                </a:solidFill>
              </a:rPr>
              <a:t>WS</a:t>
            </a:r>
            <a:endParaRPr lang="en-US" sz="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37150A4-34F6-D7ED-FEDA-33A79D94431A}"/>
              </a:ext>
            </a:extLst>
          </p:cNvPr>
          <p:cNvSpPr/>
          <p:nvPr/>
        </p:nvSpPr>
        <p:spPr>
          <a:xfrm>
            <a:off x="4106842" y="4881516"/>
            <a:ext cx="224802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800" err="1">
                <a:solidFill>
                  <a:schemeClr val="accent4">
                    <a:lumMod val="75000"/>
                  </a:schemeClr>
                </a:solidFill>
              </a:rPr>
              <a:t>WS</a:t>
            </a:r>
            <a:endParaRPr lang="en-US" sz="8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3CE8810-C489-5FBE-2C95-1AFC4DC367B9}"/>
              </a:ext>
            </a:extLst>
          </p:cNvPr>
          <p:cNvSpPr/>
          <p:nvPr/>
        </p:nvSpPr>
        <p:spPr>
          <a:xfrm rot="16200000">
            <a:off x="6748552" y="3446750"/>
            <a:ext cx="1141186" cy="13643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800" err="1">
                <a:solidFill>
                  <a:schemeClr val="accent4">
                    <a:lumMod val="75000"/>
                  </a:schemeClr>
                </a:solidFill>
              </a:rPr>
              <a:t>WS</a:t>
            </a:r>
            <a:endParaRPr lang="en-US" sz="8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D93220F-89D5-2494-A2CD-A26064F78C43}"/>
              </a:ext>
            </a:extLst>
          </p:cNvPr>
          <p:cNvSpPr/>
          <p:nvPr/>
        </p:nvSpPr>
        <p:spPr>
          <a:xfrm>
            <a:off x="11279227" y="1776187"/>
            <a:ext cx="224802" cy="1310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800" err="1">
                <a:solidFill>
                  <a:schemeClr val="accent4">
                    <a:lumMod val="75000"/>
                  </a:schemeClr>
                </a:solidFill>
              </a:rPr>
              <a:t>WS</a:t>
            </a:r>
            <a:endParaRPr lang="en-US" sz="8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19CEB3F-0709-76EE-4590-0B281233C5B7}"/>
              </a:ext>
            </a:extLst>
          </p:cNvPr>
          <p:cNvSpPr/>
          <p:nvPr/>
        </p:nvSpPr>
        <p:spPr>
          <a:xfrm>
            <a:off x="7349637" y="5737682"/>
            <a:ext cx="224802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800" err="1">
                <a:solidFill>
                  <a:schemeClr val="accent4">
                    <a:lumMod val="75000"/>
                  </a:schemeClr>
                </a:solidFill>
              </a:rPr>
              <a:t>WS</a:t>
            </a:r>
            <a:endParaRPr lang="en-US" sz="80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72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175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2025-11-01T00:11:21Z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