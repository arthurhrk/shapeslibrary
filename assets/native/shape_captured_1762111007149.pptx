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D62E62-5CF9-767B-5326-9E4312FA65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2D6BD1-9523-3BAB-0219-2787201370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212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EC317E-2585-862E-2BBC-CF7430B585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6B7122-FFC4-4C9E-F013-42B8A176A4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21133C-5875-ADA8-9350-BCBD10D4F5E2}"/>
              </a:ext>
            </a:extLst>
          </p:cNvPr>
          <p:cNvSpPr/>
          <p:nvPr/>
        </p:nvSpPr>
        <p:spPr>
          <a:xfrm>
            <a:off x="381000" y="2986923"/>
            <a:ext cx="2304000" cy="1898182"/>
          </a:xfrm>
          <a:prstGeom prst="roundRect">
            <a:avLst>
              <a:gd name="adj" fmla="val 11115"/>
            </a:avLst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pt-BR" sz="1600" dirty="0">
                <a:solidFill>
                  <a:schemeClr val="bg1"/>
                </a:solidFill>
                <a:latin typeface="Graphik" panose="020B0503030202060203" pitchFamily="34" charset="0"/>
              </a:rPr>
              <a:t>&lt;questão chave&gt;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3E5A2C-46BF-D0D8-10BC-22C7ED64ED64}"/>
              </a:ext>
            </a:extLst>
          </p:cNvPr>
          <p:cNvSpPr/>
          <p:nvPr/>
        </p:nvSpPr>
        <p:spPr>
          <a:xfrm>
            <a:off x="2952460" y="2759128"/>
            <a:ext cx="2052000" cy="1080000"/>
          </a:xfrm>
          <a:prstGeom prst="rect">
            <a:avLst/>
          </a:prstGeom>
          <a:solidFill>
            <a:srgbClr val="F7F7F7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>
              <a:lnSpc>
                <a:spcPct val="110000"/>
              </a:lnSpc>
            </a:pPr>
            <a:r>
              <a:rPr lang="pt-BR" sz="1200" dirty="0">
                <a:solidFill>
                  <a:schemeClr val="tx1"/>
                </a:solidFill>
                <a:highlight>
                  <a:srgbClr val="FFFF00"/>
                </a:highlight>
                <a:latin typeface="Graphik" panose="020B0503030202060203" pitchFamily="34" charset="0"/>
              </a:rPr>
              <a:t>&lt; sub questão 2&gt;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EAB9D4-A05D-2284-B144-64628765B759}"/>
              </a:ext>
            </a:extLst>
          </p:cNvPr>
          <p:cNvSpPr/>
          <p:nvPr/>
        </p:nvSpPr>
        <p:spPr>
          <a:xfrm>
            <a:off x="2952460" y="4032901"/>
            <a:ext cx="2052000" cy="1080000"/>
          </a:xfrm>
          <a:prstGeom prst="rect">
            <a:avLst/>
          </a:prstGeom>
          <a:solidFill>
            <a:srgbClr val="F7F7F7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>
              <a:lnSpc>
                <a:spcPct val="110000"/>
              </a:lnSpc>
            </a:pPr>
            <a:r>
              <a:rPr lang="pt-BR" sz="1200" dirty="0">
                <a:solidFill>
                  <a:schemeClr val="tx1"/>
                </a:solidFill>
                <a:highlight>
                  <a:srgbClr val="FFFF00"/>
                </a:highlight>
                <a:latin typeface="Graphik" panose="020B0503030202060203" pitchFamily="34" charset="0"/>
              </a:rPr>
              <a:t>&lt; sub questão 3&gt;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2C89E0-11F0-74E6-9B7C-3F4708D7CD65}"/>
              </a:ext>
            </a:extLst>
          </p:cNvPr>
          <p:cNvSpPr/>
          <p:nvPr/>
        </p:nvSpPr>
        <p:spPr>
          <a:xfrm>
            <a:off x="2952460" y="5306674"/>
            <a:ext cx="2052000" cy="1080000"/>
          </a:xfrm>
          <a:prstGeom prst="rect">
            <a:avLst/>
          </a:prstGeom>
          <a:solidFill>
            <a:srgbClr val="F7F7F7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>
              <a:lnSpc>
                <a:spcPct val="110000"/>
              </a:lnSpc>
            </a:pPr>
            <a:r>
              <a:rPr lang="pt-BR" sz="1200" dirty="0">
                <a:solidFill>
                  <a:schemeClr val="tx1"/>
                </a:solidFill>
                <a:highlight>
                  <a:srgbClr val="FFFF00"/>
                </a:highlight>
                <a:latin typeface="Graphik" panose="020B0503030202060203" pitchFamily="34" charset="0"/>
              </a:rPr>
              <a:t>&lt; sub questão 4&gt;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3ADEA885-F5D6-F06D-2E9B-9BAB2B754DF9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2685000" y="3299128"/>
            <a:ext cx="267460" cy="636886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04CAD75F-A878-5C48-67A9-A3582E7A23F1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2685000" y="3936014"/>
            <a:ext cx="267460" cy="63688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E676F49-0645-C5D8-236C-E19C685C723E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685000" y="3936014"/>
            <a:ext cx="267460" cy="191066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EC4D090-0272-F12B-DAC7-DFDB7F577F10}"/>
              </a:ext>
            </a:extLst>
          </p:cNvPr>
          <p:cNvSpPr txBox="1"/>
          <p:nvPr/>
        </p:nvSpPr>
        <p:spPr>
          <a:xfrm>
            <a:off x="5259000" y="1602162"/>
            <a:ext cx="6552000" cy="846386"/>
          </a:xfrm>
          <a:prstGeom prst="rect">
            <a:avLst/>
          </a:prstGeom>
          <a:noFill/>
        </p:spPr>
        <p:txBody>
          <a:bodyPr wrap="square" lIns="0" tIns="0" rIns="0" bIns="45720" rtlCol="0" anchor="ctr">
            <a:spAutoFit/>
          </a:bodyPr>
          <a:lstStyle/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50" dirty="0">
                <a:latin typeface="Graphik" panose="020B0503030202060203" pitchFamily="34" charset="0"/>
              </a:rPr>
              <a:t>Quais são os principais</a:t>
            </a:r>
            <a:r>
              <a:rPr lang="pt-BR" sz="1050" b="1" dirty="0">
                <a:latin typeface="Graphik" panose="020B0503030202060203" pitchFamily="34" charset="0"/>
              </a:rPr>
              <a:t> segmentos de soluções </a:t>
            </a:r>
            <a:r>
              <a:rPr lang="pt-BR" sz="1050" dirty="0">
                <a:latin typeface="Graphik" panose="020B0503030202060203" pitchFamily="34" charset="0"/>
              </a:rPr>
              <a:t>(e.g., proteção de identidade, detecção e resposta, SOC, compliance regulatório)?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50" dirty="0">
                <a:latin typeface="Graphik" panose="020B0503030202060203" pitchFamily="34" charset="0"/>
              </a:rPr>
              <a:t>Quais </a:t>
            </a:r>
            <a:r>
              <a:rPr lang="pt-BR" sz="1050" b="1" dirty="0">
                <a:latin typeface="Graphik" panose="020B0503030202060203" pitchFamily="34" charset="0"/>
              </a:rPr>
              <a:t>indústrias e perfis de cliente </a:t>
            </a:r>
            <a:r>
              <a:rPr lang="pt-BR" sz="1050" dirty="0">
                <a:latin typeface="Graphik" panose="020B0503030202060203" pitchFamily="34" charset="0"/>
              </a:rPr>
              <a:t>têm maior propensão a consumir (e pagar) por essas soluções?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50" dirty="0">
                <a:latin typeface="Graphik" panose="020B0503030202060203" pitchFamily="34" charset="0"/>
              </a:rPr>
              <a:t>Qual é o </a:t>
            </a:r>
            <a:r>
              <a:rPr lang="pt-BR" sz="1050" b="1" dirty="0">
                <a:latin typeface="Graphik" panose="020B0503030202060203" pitchFamily="34" charset="0"/>
              </a:rPr>
              <a:t>tamanho do mercado endereçável </a:t>
            </a:r>
            <a:r>
              <a:rPr lang="pt-BR" sz="1050" dirty="0">
                <a:latin typeface="Graphik" panose="020B0503030202060203" pitchFamily="34" charset="0"/>
              </a:rPr>
              <a:t>em cada segmento? Qual o crescimento esperado?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3B873D-E542-EA73-85A8-24E920F1C259}"/>
              </a:ext>
            </a:extLst>
          </p:cNvPr>
          <p:cNvSpPr txBox="1"/>
          <p:nvPr/>
        </p:nvSpPr>
        <p:spPr>
          <a:xfrm>
            <a:off x="5259000" y="3988125"/>
            <a:ext cx="6552000" cy="1169551"/>
          </a:xfrm>
          <a:prstGeom prst="rect">
            <a:avLst/>
          </a:prstGeom>
          <a:noFill/>
        </p:spPr>
        <p:txBody>
          <a:bodyPr wrap="square" lIns="0" tIns="0" rIns="0" bIns="45720" rtlCol="0" anchor="ctr">
            <a:spAutoFit/>
          </a:bodyPr>
          <a:lstStyle>
            <a:defPPr>
              <a:defRPr lang="en-US"/>
            </a:defPPr>
            <a:lvl1pPr marL="171450" indent="-171450">
              <a:spcAft>
                <a:spcPts val="1200"/>
              </a:spcAft>
              <a:buFont typeface="Arial" panose="020B0604020202020204" pitchFamily="34" charset="0"/>
              <a:buChar char="•"/>
              <a:defRPr sz="1100">
                <a:latin typeface="Graphik" panose="020B0503030202060203" pitchFamily="34" charset="0"/>
              </a:defRPr>
            </a:lvl1pPr>
          </a:lstStyle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50" dirty="0">
                <a:latin typeface="Graphik" panose="020B0503030202060203" pitchFamily="34" charset="0"/>
              </a:rPr>
              <a:t>Em que medida as </a:t>
            </a:r>
            <a:r>
              <a:rPr lang="pt-BR" sz="1050" b="1" dirty="0">
                <a:latin typeface="Graphik" panose="020B0503030202060203" pitchFamily="34" charset="0"/>
              </a:rPr>
              <a:t>capacidades internas do Itaú </a:t>
            </a:r>
            <a:r>
              <a:rPr lang="pt-BR" sz="1050" dirty="0">
                <a:latin typeface="Graphik" panose="020B0503030202060203" pitchFamily="34" charset="0"/>
              </a:rPr>
              <a:t>estão alinhadas com os requisitos dos plays mais atrativos do mercado?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50" dirty="0">
                <a:latin typeface="Graphik" panose="020B0503030202060203" pitchFamily="34" charset="0"/>
              </a:rPr>
              <a:t>Para cada oportunidade, qual a </a:t>
            </a:r>
            <a:r>
              <a:rPr lang="pt-BR" sz="1050" b="1" dirty="0">
                <a:latin typeface="Graphik" panose="020B0503030202060203" pitchFamily="34" charset="0"/>
              </a:rPr>
              <a:t>via de entrada mais adequada</a:t>
            </a:r>
            <a:r>
              <a:rPr lang="pt-BR" sz="1050" dirty="0">
                <a:latin typeface="Graphik" panose="020B0503030202060203" pitchFamily="34" charset="0"/>
              </a:rPr>
              <a:t>: </a:t>
            </a:r>
            <a:r>
              <a:rPr lang="pt-BR" sz="1050" b="1" dirty="0">
                <a:latin typeface="Graphik" panose="020B0503030202060203" pitchFamily="34" charset="0"/>
              </a:rPr>
              <a:t>(1)</a:t>
            </a:r>
            <a:r>
              <a:rPr lang="pt-BR" sz="1050" dirty="0">
                <a:latin typeface="Graphik" panose="020B0503030202060203" pitchFamily="34" charset="0"/>
              </a:rPr>
              <a:t>. Aproveitamento de ativos internos existentes? </a:t>
            </a:r>
            <a:r>
              <a:rPr lang="pt-BR" sz="1050" b="1" dirty="0">
                <a:latin typeface="Graphik" panose="020B0503030202060203" pitchFamily="34" charset="0"/>
              </a:rPr>
              <a:t>(2)</a:t>
            </a:r>
            <a:r>
              <a:rPr lang="pt-BR" sz="1050" dirty="0">
                <a:latin typeface="Graphik" panose="020B0503030202060203" pitchFamily="34" charset="0"/>
              </a:rPr>
              <a:t>. Parcerias estratégicas com players especializados? </a:t>
            </a:r>
            <a:r>
              <a:rPr lang="pt-BR" sz="1050" b="1" dirty="0">
                <a:latin typeface="Graphik" panose="020B0503030202060203" pitchFamily="34" charset="0"/>
              </a:rPr>
              <a:t>(3)</a:t>
            </a:r>
            <a:r>
              <a:rPr lang="pt-BR" sz="1050" dirty="0">
                <a:latin typeface="Graphik" panose="020B0503030202060203" pitchFamily="34" charset="0"/>
              </a:rPr>
              <a:t>. Aquisições direcionadas para ganho de </a:t>
            </a:r>
            <a:r>
              <a:rPr lang="pt-BR" sz="1050" dirty="0" err="1">
                <a:latin typeface="Graphik" panose="020B0503030202060203" pitchFamily="34" charset="0"/>
              </a:rPr>
              <a:t>capability</a:t>
            </a:r>
            <a:r>
              <a:rPr lang="pt-BR" sz="1050" dirty="0">
                <a:latin typeface="Graphik" panose="020B0503030202060203" pitchFamily="34" charset="0"/>
              </a:rPr>
              <a:t> ou aceleração de go-</a:t>
            </a:r>
            <a:r>
              <a:rPr lang="pt-BR" sz="1050" dirty="0" err="1">
                <a:latin typeface="Graphik" panose="020B0503030202060203" pitchFamily="34" charset="0"/>
              </a:rPr>
              <a:t>to</a:t>
            </a:r>
            <a:r>
              <a:rPr lang="pt-BR" sz="1050" dirty="0">
                <a:latin typeface="Graphik" panose="020B0503030202060203" pitchFamily="34" charset="0"/>
              </a:rPr>
              <a:t>-</a:t>
            </a:r>
            <a:r>
              <a:rPr lang="pt-BR" sz="1050" dirty="0" err="1">
                <a:latin typeface="Graphik" panose="020B0503030202060203" pitchFamily="34" charset="0"/>
              </a:rPr>
              <a:t>market</a:t>
            </a:r>
            <a:r>
              <a:rPr lang="pt-BR" sz="1050" dirty="0">
                <a:latin typeface="Graphik" panose="020B0503030202060203" pitchFamily="34" charset="0"/>
              </a:rPr>
              <a:t>?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50" dirty="0">
                <a:latin typeface="Graphik" panose="020B0503030202060203" pitchFamily="34" charset="0"/>
              </a:rPr>
              <a:t>Existem </a:t>
            </a:r>
            <a:r>
              <a:rPr lang="pt-BR" sz="1050" b="1" dirty="0">
                <a:latin typeface="Graphik" panose="020B0503030202060203" pitchFamily="34" charset="0"/>
              </a:rPr>
              <a:t>sinergias relevantes </a:t>
            </a:r>
            <a:r>
              <a:rPr lang="pt-BR" sz="1050" dirty="0">
                <a:latin typeface="Graphik" panose="020B0503030202060203" pitchFamily="34" charset="0"/>
              </a:rPr>
              <a:t>com marcas, canais ou plataformas já operadas pelo banco?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C70AB3-D213-47D9-10E2-51CFDD13ED94}"/>
              </a:ext>
            </a:extLst>
          </p:cNvPr>
          <p:cNvSpPr txBox="1"/>
          <p:nvPr/>
        </p:nvSpPr>
        <p:spPr>
          <a:xfrm>
            <a:off x="5259000" y="5342691"/>
            <a:ext cx="6552000" cy="1007968"/>
          </a:xfrm>
          <a:prstGeom prst="rect">
            <a:avLst/>
          </a:prstGeom>
          <a:noFill/>
        </p:spPr>
        <p:txBody>
          <a:bodyPr wrap="square" lIns="0" tIns="0" rIns="0" bIns="45720" rtlCol="0" anchor="ctr">
            <a:spAutoFit/>
          </a:bodyPr>
          <a:lstStyle>
            <a:defPPr>
              <a:defRPr lang="en-US"/>
            </a:defPPr>
            <a:lvl1pPr marL="171450" indent="-171450">
              <a:spcAft>
                <a:spcPts val="1200"/>
              </a:spcAft>
              <a:buFont typeface="Arial" panose="020B0604020202020204" pitchFamily="34" charset="0"/>
              <a:buChar char="•"/>
              <a:defRPr sz="1100">
                <a:latin typeface="Graphik" panose="020B0503030202060203" pitchFamily="34" charset="0"/>
              </a:defRPr>
            </a:lvl1pPr>
          </a:lstStyle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50" dirty="0">
                <a:latin typeface="Graphik" panose="020B0503030202060203" pitchFamily="34" charset="0"/>
              </a:rPr>
              <a:t>Quais </a:t>
            </a:r>
            <a:r>
              <a:rPr lang="pt-BR" sz="1050" b="1" dirty="0">
                <a:latin typeface="Graphik" panose="020B0503030202060203" pitchFamily="34" charset="0"/>
              </a:rPr>
              <a:t>critérios</a:t>
            </a:r>
            <a:r>
              <a:rPr lang="pt-BR" sz="1050" dirty="0">
                <a:latin typeface="Graphik" panose="020B0503030202060203" pitchFamily="34" charset="0"/>
              </a:rPr>
              <a:t> definirão a </a:t>
            </a:r>
            <a:r>
              <a:rPr lang="pt-BR" sz="1050" b="1" dirty="0">
                <a:latin typeface="Graphik" panose="020B0503030202060203" pitchFamily="34" charset="0"/>
              </a:rPr>
              <a:t>atratividade</a:t>
            </a:r>
            <a:r>
              <a:rPr lang="pt-BR" sz="1050" dirty="0">
                <a:latin typeface="Graphik" panose="020B0503030202060203" pitchFamily="34" charset="0"/>
              </a:rPr>
              <a:t> de cada play? Valor </a:t>
            </a:r>
            <a:r>
              <a:rPr lang="pt-BR" sz="1050" dirty="0" err="1">
                <a:latin typeface="Graphik" panose="020B0503030202060203" pitchFamily="34" charset="0"/>
              </a:rPr>
              <a:t>capturável</a:t>
            </a:r>
            <a:r>
              <a:rPr lang="pt-BR" sz="1050" dirty="0">
                <a:latin typeface="Graphik" panose="020B0503030202060203" pitchFamily="34" charset="0"/>
              </a:rPr>
              <a:t>, tempo de entrada, barreiras de entrada, viabilidade regulatória, grau de diferenciação, risco reputacional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50" dirty="0">
                <a:latin typeface="Graphik" panose="020B0503030202060203" pitchFamily="34" charset="0"/>
              </a:rPr>
              <a:t>Qual o </a:t>
            </a:r>
            <a:r>
              <a:rPr lang="pt-BR" sz="1050" b="1" dirty="0">
                <a:latin typeface="Graphik" panose="020B0503030202060203" pitchFamily="34" charset="0"/>
              </a:rPr>
              <a:t>plano de ação para viabilizar </a:t>
            </a:r>
            <a:r>
              <a:rPr lang="pt-BR" sz="1050" dirty="0">
                <a:latin typeface="Graphik" panose="020B0503030202060203" pitchFamily="34" charset="0"/>
              </a:rPr>
              <a:t>os caminhos mais promissores (mínimo produto viável, roadmap, estrutura)?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50" dirty="0"/>
              <a:t>Quais os principais </a:t>
            </a:r>
            <a:r>
              <a:rPr lang="pt-BR" sz="1050" b="1" dirty="0"/>
              <a:t>indicadores de monitoramento </a:t>
            </a:r>
            <a:r>
              <a:rPr lang="pt-BR" sz="1050" dirty="0"/>
              <a:t>da captura de valor?</a:t>
            </a:r>
            <a:endParaRPr lang="pt-BR" sz="1050" dirty="0">
              <a:latin typeface="Graphik" panose="020B050303020206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12539A-1C43-7DEA-6E8C-6FAC02942541}"/>
              </a:ext>
            </a:extLst>
          </p:cNvPr>
          <p:cNvSpPr/>
          <p:nvPr/>
        </p:nvSpPr>
        <p:spPr>
          <a:xfrm>
            <a:off x="2952460" y="1485355"/>
            <a:ext cx="2052000" cy="1080000"/>
          </a:xfrm>
          <a:prstGeom prst="rect">
            <a:avLst/>
          </a:prstGeom>
          <a:solidFill>
            <a:srgbClr val="F7F7F7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>
              <a:lnSpc>
                <a:spcPct val="110000"/>
              </a:lnSpc>
            </a:pPr>
            <a:r>
              <a:rPr lang="pt-BR" sz="1200" dirty="0">
                <a:solidFill>
                  <a:schemeClr val="tx1"/>
                </a:solidFill>
                <a:highlight>
                  <a:srgbClr val="FFFF00"/>
                </a:highlight>
                <a:latin typeface="Graphik" panose="020B0503030202060203" pitchFamily="34" charset="0"/>
              </a:rPr>
              <a:t>&lt; sub questão 1&gt;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863B44C-C36D-F837-F3F2-A3105C3CC7A3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 flipV="1">
            <a:off x="2685000" y="2025355"/>
            <a:ext cx="267460" cy="1910659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867355F-DFA2-C15E-0D1F-B74AB8DE70E0}"/>
              </a:ext>
            </a:extLst>
          </p:cNvPr>
          <p:cNvSpPr txBox="1"/>
          <p:nvPr/>
        </p:nvSpPr>
        <p:spPr>
          <a:xfrm>
            <a:off x="5259000" y="2756672"/>
            <a:ext cx="6552000" cy="1084912"/>
          </a:xfrm>
          <a:prstGeom prst="rect">
            <a:avLst/>
          </a:prstGeom>
          <a:noFill/>
        </p:spPr>
        <p:txBody>
          <a:bodyPr wrap="square" lIns="0" tIns="0" rIns="0" bIns="45720" rtlCol="0" anchor="ctr">
            <a:spAutoFit/>
          </a:bodyPr>
          <a:lstStyle>
            <a:defPPr>
              <a:defRPr lang="en-US"/>
            </a:defPPr>
            <a:lvl1pPr marL="171450" indent="-171450">
              <a:spcAft>
                <a:spcPts val="1200"/>
              </a:spcAft>
              <a:buFont typeface="Arial" panose="020B0604020202020204" pitchFamily="34" charset="0"/>
              <a:buChar char="•"/>
              <a:defRPr sz="1100">
                <a:latin typeface="Graphik" panose="020B0503030202060203" pitchFamily="34" charset="0"/>
              </a:defRPr>
            </a:lvl1pPr>
          </a:lstStyle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50" dirty="0">
                <a:latin typeface="Graphik" panose="020B0503030202060203" pitchFamily="34" charset="0"/>
              </a:rPr>
              <a:t>Quais </a:t>
            </a:r>
            <a:r>
              <a:rPr lang="pt-BR" sz="1050" b="1" dirty="0">
                <a:latin typeface="Graphik" panose="020B0503030202060203" pitchFamily="34" charset="0"/>
              </a:rPr>
              <a:t>modelos de negócio </a:t>
            </a:r>
            <a:r>
              <a:rPr lang="pt-BR" sz="1050" dirty="0">
                <a:latin typeface="Graphik" panose="020B0503030202060203" pitchFamily="34" charset="0"/>
              </a:rPr>
              <a:t>estão sendo usados (SaaS, MSSP, consultoria especializada, plataformas, etc.)? Quais deles são mais </a:t>
            </a:r>
            <a:r>
              <a:rPr lang="pt-BR" sz="1050" i="1" dirty="0">
                <a:latin typeface="Graphik" panose="020B0503030202060203" pitchFamily="34" charset="0"/>
              </a:rPr>
              <a:t>tech-</a:t>
            </a:r>
            <a:r>
              <a:rPr lang="pt-BR" sz="1050" i="1" dirty="0" err="1">
                <a:latin typeface="Graphik" panose="020B0503030202060203" pitchFamily="34" charset="0"/>
              </a:rPr>
              <a:t>based</a:t>
            </a:r>
            <a:r>
              <a:rPr lang="pt-BR" sz="1050" dirty="0"/>
              <a:t>?</a:t>
            </a:r>
            <a:endParaRPr lang="pt-BR" sz="1050" dirty="0">
              <a:latin typeface="Graphik" panose="020B0503030202060203" pitchFamily="34" charset="0"/>
            </a:endParaRP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50" dirty="0">
                <a:latin typeface="Graphik" panose="020B0503030202060203" pitchFamily="34" charset="0"/>
              </a:rPr>
              <a:t>Quais são os </a:t>
            </a:r>
            <a:r>
              <a:rPr lang="pt-BR" sz="1050" b="1" dirty="0">
                <a:latin typeface="Graphik" panose="020B0503030202060203" pitchFamily="34" charset="0"/>
              </a:rPr>
              <a:t>arquétipos de players </a:t>
            </a:r>
            <a:r>
              <a:rPr lang="pt-BR" sz="1050" dirty="0">
                <a:latin typeface="Graphik" panose="020B0503030202060203" pitchFamily="34" charset="0"/>
              </a:rPr>
              <a:t>no mercado hoje (startups, big </a:t>
            </a:r>
            <a:r>
              <a:rPr lang="pt-BR" sz="1050" dirty="0" err="1">
                <a:latin typeface="Graphik" panose="020B0503030202060203" pitchFamily="34" charset="0"/>
              </a:rPr>
              <a:t>techs</a:t>
            </a:r>
            <a:r>
              <a:rPr lang="pt-BR" sz="1050" dirty="0">
                <a:latin typeface="Graphik" panose="020B0503030202060203" pitchFamily="34" charset="0"/>
              </a:rPr>
              <a:t>, integradores, bancos)?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50" dirty="0">
                <a:latin typeface="Graphik" panose="020B0503030202060203" pitchFamily="34" charset="0"/>
              </a:rPr>
              <a:t>Quais </a:t>
            </a:r>
            <a:r>
              <a:rPr lang="pt-BR" sz="1050" b="1" dirty="0">
                <a:latin typeface="Graphik" panose="020B0503030202060203" pitchFamily="34" charset="0"/>
              </a:rPr>
              <a:t>verticais de atuação </a:t>
            </a:r>
            <a:r>
              <a:rPr lang="pt-BR" sz="1050" dirty="0">
                <a:latin typeface="Graphik" panose="020B0503030202060203" pitchFamily="34" charset="0"/>
              </a:rPr>
              <a:t>(</a:t>
            </a:r>
            <a:r>
              <a:rPr lang="pt-BR" sz="1050" dirty="0" err="1">
                <a:latin typeface="Graphik" panose="020B0503030202060203" pitchFamily="34" charset="0"/>
              </a:rPr>
              <a:t>ex</a:t>
            </a:r>
            <a:r>
              <a:rPr lang="pt-BR" sz="1050" dirty="0">
                <a:latin typeface="Graphik" panose="020B0503030202060203" pitchFamily="34" charset="0"/>
              </a:rPr>
              <a:t>: financeiro, saúde, varejo, setor público) devem ser priorizadas e?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050" dirty="0">
                <a:latin typeface="Graphik" panose="020B0503030202060203" pitchFamily="34" charset="0"/>
              </a:rPr>
              <a:t>Onde </a:t>
            </a:r>
            <a:r>
              <a:rPr lang="pt-BR" sz="1050" b="1" dirty="0">
                <a:latin typeface="Graphik" panose="020B0503030202060203" pitchFamily="34" charset="0"/>
              </a:rPr>
              <a:t>existem lacunas ou espaços </a:t>
            </a:r>
            <a:r>
              <a:rPr lang="pt-BR" sz="1050" dirty="0">
                <a:latin typeface="Graphik" panose="020B0503030202060203" pitchFamily="34" charset="0"/>
              </a:rPr>
              <a:t>pouco explorados? Onde o mercado está saturado?</a:t>
            </a:r>
          </a:p>
        </p:txBody>
      </p:sp>
      <p:sp>
        <p:nvSpPr>
          <p:cNvPr id="17" name="Content Placeholder 17">
            <a:extLst>
              <a:ext uri="{FF2B5EF4-FFF2-40B4-BE49-F238E27FC236}">
                <a16:creationId xmlns:a16="http://schemas.microsoft.com/office/drawing/2014/main" id="{E9F1D151-6489-1DA8-6132-97D39CE39D7D}"/>
              </a:ext>
            </a:extLst>
          </p:cNvPr>
          <p:cNvSpPr txBox="1">
            <a:spLocks/>
          </p:cNvSpPr>
          <p:nvPr/>
        </p:nvSpPr>
        <p:spPr>
          <a:xfrm>
            <a:off x="706722" y="6488234"/>
            <a:ext cx="8279016" cy="19831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1734634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 kern="1200" cap="none" baseline="0">
                <a:solidFill>
                  <a:schemeClr val="tx1">
                    <a:lumMod val="50000"/>
                    <a:lumOff val="50000"/>
                  </a:schemeClr>
                </a:solidFill>
                <a:latin typeface="Graphik" panose="020B0503030202060203" pitchFamily="34" charset="0"/>
                <a:ea typeface="Graphik" panose="020B0503030202060203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32000" indent="-216000" algn="l" defTabSz="1734634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33" b="0" i="0" kern="1200" cap="none" baseline="0">
                <a:solidFill>
                  <a:srgbClr val="404040"/>
                </a:solidFill>
                <a:latin typeface="+mn-lt"/>
                <a:ea typeface="Graphik" panose="020B0503030202060203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648000" indent="-216000" algn="l" defTabSz="1734634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/>
              <a:defRPr sz="1333" b="0" i="0" kern="1200" cap="none" baseline="0">
                <a:solidFill>
                  <a:srgbClr val="404040"/>
                </a:solidFill>
                <a:latin typeface="+mn-lt"/>
                <a:ea typeface="Graphik" panose="020B0503030202060203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864000" indent="-216000" algn="l" defTabSz="1734634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33" b="0" i="0" kern="1200" cap="none" baseline="0">
                <a:solidFill>
                  <a:srgbClr val="404040"/>
                </a:solidFill>
                <a:latin typeface="+mn-lt"/>
                <a:ea typeface="Graphik" panose="020B0503030202060203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1080000" indent="-216000" algn="l" defTabSz="1734634" rtl="0" eaLnBrk="1" latinLnBrk="0" hangingPunct="1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sz="1333" b="0" i="0" kern="1200" cap="none" baseline="0">
                <a:solidFill>
                  <a:srgbClr val="404040"/>
                </a:solidFill>
                <a:latin typeface="+mn-lt"/>
                <a:ea typeface="Graphik" panose="020B0503030202060203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28594" indent="-182029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Char char="•"/>
              <a:tabLst/>
              <a:defRPr sz="2133" b="0" i="0" kern="1200" cap="none" baseline="0">
                <a:solidFill>
                  <a:schemeClr val="tx2"/>
                </a:solidFill>
                <a:latin typeface="+mn-lt"/>
                <a:ea typeface="Arial Bold" charset="0"/>
                <a:cs typeface="Arial Bold" charset="0"/>
              </a:defRPr>
            </a:lvl6pPr>
            <a:lvl7pPr marL="0" indent="0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None/>
              <a:defRPr sz="1867" b="1" i="0" kern="1200" cap="none" baseline="0">
                <a:solidFill>
                  <a:schemeClr val="tx1"/>
                </a:solidFill>
                <a:latin typeface="+mn-lt"/>
                <a:ea typeface="Arial Bold" charset="0"/>
                <a:cs typeface="Arial Bold" charset="0"/>
              </a:defRPr>
            </a:lvl7pPr>
            <a:lvl8pPr marL="0" indent="0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None/>
              <a:defRPr sz="1867" b="0" i="0" kern="1200" cap="none" baseline="0">
                <a:solidFill>
                  <a:schemeClr val="tx1"/>
                </a:solidFill>
                <a:latin typeface="+mn-lt"/>
                <a:ea typeface="Arial Bold" charset="0"/>
                <a:cs typeface="Arial Bold" charset="0"/>
              </a:defRPr>
            </a:lvl8pPr>
            <a:lvl9pPr marL="192613" indent="-192613" algn="l" defTabSz="1734634" rtl="0" eaLnBrk="1" latinLnBrk="0" hangingPunct="1">
              <a:lnSpc>
                <a:spcPct val="90000"/>
              </a:lnSpc>
              <a:spcBef>
                <a:spcPts val="800"/>
              </a:spcBef>
              <a:buFont typeface="Arial" charset="0"/>
              <a:buChar char="•"/>
              <a:tabLst/>
              <a:defRPr sz="1867" b="0" i="0" kern="1200" cap="none" baseline="0">
                <a:solidFill>
                  <a:schemeClr val="tx1"/>
                </a:solidFill>
                <a:latin typeface="+mn-lt"/>
                <a:ea typeface="Arial Black" charset="0"/>
                <a:cs typeface="Arial Black" charset="0"/>
              </a:defRPr>
            </a:lvl9pPr>
          </a:lstStyle>
          <a:p>
            <a:pPr marL="0" marR="0" lvl="0" indent="0" algn="l" defTabSz="17346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Fonte: Elaboração</a:t>
            </a:r>
            <a:r>
              <a:rPr lang="pt-BR" dirty="0">
                <a:solidFill>
                  <a:srgbClr val="000000">
                    <a:lumMod val="50000"/>
                    <a:lumOff val="50000"/>
                  </a:srgbClr>
                </a:solidFill>
              </a:rPr>
              <a:t> Accenture.</a:t>
            </a:r>
            <a:endParaRPr kumimoji="0" lang="pt-BR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786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326</Words>
  <Application>Microsoft Office PowerPoint</Application>
  <PresentationFormat>Widescreen</PresentationFormat>
  <Paragraphs>23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Graphik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2025-11-02T19:16:51Z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