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395720994955646E-2"/>
          <c:y val="0.15754189944134078"/>
          <c:w val="0.94868672812663069"/>
          <c:h val="0.78435754189944129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8.2681564245810052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839-4794-B154-CD0586A46BA0}"/>
                </c:ext>
              </c:extLst>
            </c:dLbl>
            <c:dLbl>
              <c:idx val="1"/>
              <c:layout>
                <c:manualLayout>
                  <c:x val="0"/>
                  <c:y val="8.2681564245810052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839-4794-B154-CD0586A46BA0}"/>
                </c:ext>
              </c:extLst>
            </c:dLbl>
            <c:dLbl>
              <c:idx val="2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839-4794-B154-CD0586A46BA0}"/>
                </c:ext>
              </c:extLst>
            </c:dLbl>
            <c:dLbl>
              <c:idx val="3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839-4794-B154-CD0586A46BA0}"/>
                </c:ext>
              </c:extLst>
            </c:dLbl>
            <c:dLbl>
              <c:idx val="4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839-4794-B154-CD0586A46BA0}"/>
                </c:ext>
              </c:extLst>
            </c:dLbl>
            <c:dLbl>
              <c:idx val="5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839-4794-B154-CD0586A46BA0}"/>
                </c:ext>
              </c:extLst>
            </c:dLbl>
            <c:dLbl>
              <c:idx val="6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839-4794-B154-CD0586A46BA0}"/>
                </c:ext>
              </c:extLst>
            </c:dLbl>
            <c:dLbl>
              <c:idx val="7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839-4794-B154-CD0586A46BA0}"/>
                </c:ext>
              </c:extLst>
            </c:dLbl>
            <c:dLbl>
              <c:idx val="8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839-4794-B154-CD0586A46BA0}"/>
                </c:ext>
              </c:extLst>
            </c:dLbl>
            <c:dLbl>
              <c:idx val="9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839-4794-B154-CD0586A46BA0}"/>
                </c:ext>
              </c:extLst>
            </c:dLbl>
            <c:dLbl>
              <c:idx val="10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839-4794-B154-CD0586A46B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Sheet1!$A$1:$K$1</c:f>
              <c:numCache>
                <c:formatCode>General</c:formatCode>
                <c:ptCount val="11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  <c:pt idx="8">
                  <c:v>2031</c:v>
                </c:pt>
                <c:pt idx="9">
                  <c:v>2032</c:v>
                </c:pt>
                <c:pt idx="10">
                  <c:v>2033</c:v>
                </c:pt>
              </c:numCache>
            </c:numRef>
          </c:xVal>
          <c:yVal>
            <c:numRef>
              <c:f>Sheet1!$A$2:$K$2</c:f>
              <c:numCache>
                <c:formatCode>General</c:formatCode>
                <c:ptCount val="11"/>
                <c:pt idx="0">
                  <c:v>1.9401651090726103E-2</c:v>
                </c:pt>
                <c:pt idx="1">
                  <c:v>2.0231267097141081E-2</c:v>
                </c:pt>
                <c:pt idx="2">
                  <c:v>1.9888217580972468E-2</c:v>
                </c:pt>
                <c:pt idx="3">
                  <c:v>1.9576137763133356E-2</c:v>
                </c:pt>
                <c:pt idx="4">
                  <c:v>1.925489785586226E-2</c:v>
                </c:pt>
                <c:pt idx="5">
                  <c:v>1.8930663423491114E-2</c:v>
                </c:pt>
                <c:pt idx="6">
                  <c:v>1.8609233191276196E-2</c:v>
                </c:pt>
                <c:pt idx="7">
                  <c:v>1.8298372976600953E-2</c:v>
                </c:pt>
                <c:pt idx="8">
                  <c:v>1.8006868124875806E-2</c:v>
                </c:pt>
                <c:pt idx="9">
                  <c:v>1.7720110975576853E-2</c:v>
                </c:pt>
                <c:pt idx="10">
                  <c:v>1.8131872288845424E-2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8839-4794-B154-CD0586A46BA0}"/>
            </c:ext>
          </c:extLst>
        </c:ser>
        <c:ser>
          <c:idx val="1"/>
          <c:order val="1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8839-4794-B154-CD0586A46BA0}"/>
                </c:ext>
              </c:extLst>
            </c:dLbl>
            <c:dLbl>
              <c:idx val="1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8839-4794-B154-CD0586A46BA0}"/>
                </c:ext>
              </c:extLst>
            </c:dLbl>
            <c:dLbl>
              <c:idx val="4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8839-4794-B154-CD0586A46BA0}"/>
                </c:ext>
              </c:extLst>
            </c:dLbl>
            <c:dLbl>
              <c:idx val="5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8839-4794-B154-CD0586A46BA0}"/>
                </c:ext>
              </c:extLst>
            </c:dLbl>
            <c:dLbl>
              <c:idx val="6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8839-4794-B154-CD0586A46BA0}"/>
                </c:ext>
              </c:extLst>
            </c:dLbl>
            <c:dLbl>
              <c:idx val="7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8839-4794-B154-CD0586A46BA0}"/>
                </c:ext>
              </c:extLst>
            </c:dLbl>
            <c:dLbl>
              <c:idx val="8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8839-4794-B154-CD0586A46BA0}"/>
                </c:ext>
              </c:extLst>
            </c:dLbl>
            <c:dLbl>
              <c:idx val="9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8839-4794-B154-CD0586A46BA0}"/>
                </c:ext>
              </c:extLst>
            </c:dLbl>
            <c:dLbl>
              <c:idx val="10"/>
              <c:layout>
                <c:manualLayout>
                  <c:x val="0"/>
                  <c:y val="-8.826815642458101E-2"/>
                </c:manualLayout>
              </c:layout>
              <c:numFmt formatCode="#,##0.000;&quot;-&quot;#,##0.0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8839-4794-B154-CD0586A46B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Sheet1!$A$1:$K$1</c:f>
              <c:numCache>
                <c:formatCode>General</c:formatCode>
                <c:ptCount val="11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  <c:pt idx="8">
                  <c:v>2031</c:v>
                </c:pt>
                <c:pt idx="9">
                  <c:v>2032</c:v>
                </c:pt>
                <c:pt idx="10">
                  <c:v>2033</c:v>
                </c:pt>
              </c:numCache>
            </c:numRef>
          </c:xVal>
          <c:yVal>
            <c:numRef>
              <c:f>Sheet1!$A$3:$K$3</c:f>
              <c:numCache>
                <c:formatCode>General</c:formatCode>
                <c:ptCount val="11"/>
                <c:pt idx="0">
                  <c:v>2.0414612544227381E-2</c:v>
                </c:pt>
                <c:pt idx="1">
                  <c:v>2.3661811154322646E-2</c:v>
                </c:pt>
                <c:pt idx="2">
                  <c:v>1.6847945509479535E-2</c:v>
                </c:pt>
                <c:pt idx="3">
                  <c:v>9.6193190634470075E-3</c:v>
                </c:pt>
                <c:pt idx="4">
                  <c:v>9.5101174204078025E-3</c:v>
                </c:pt>
                <c:pt idx="5">
                  <c:v>9.4033532175719029E-3</c:v>
                </c:pt>
                <c:pt idx="6">
                  <c:v>9.2990073396850038E-3</c:v>
                </c:pt>
                <c:pt idx="7">
                  <c:v>9.197059440182757E-3</c:v>
                </c:pt>
                <c:pt idx="8">
                  <c:v>9.0974880722771417E-3</c:v>
                </c:pt>
                <c:pt idx="9">
                  <c:v>8.8845241416351407E-3</c:v>
                </c:pt>
                <c:pt idx="10">
                  <c:v>8.5643578022634361E-3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8839-4794-B154-CD0586A46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3"/>
          <c:min val="202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B2B2B2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2.3661811154322646E-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307015969854648E-3"/>
          <c:y val="8.1250000000000003E-2"/>
          <c:w val="0.98133859680602908"/>
          <c:h val="0.837500000000000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2B2B2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-13471382.090240147</c:v>
                </c:pt>
                <c:pt idx="1">
                  <c:v>-47178978.222370878</c:v>
                </c:pt>
                <c:pt idx="2">
                  <c:v>5772166.7920995243</c:v>
                </c:pt>
                <c:pt idx="3">
                  <c:v>32048174.597922664</c:v>
                </c:pt>
                <c:pt idx="4">
                  <c:v>29325600.353899203</c:v>
                </c:pt>
                <c:pt idx="5">
                  <c:v>26807884.52292408</c:v>
                </c:pt>
                <c:pt idx="6">
                  <c:v>24493536.784598522</c:v>
                </c:pt>
                <c:pt idx="7">
                  <c:v>22384936.90326025</c:v>
                </c:pt>
                <c:pt idx="8">
                  <c:v>20481912.506070342</c:v>
                </c:pt>
                <c:pt idx="9">
                  <c:v>18596230.385804933</c:v>
                </c:pt>
                <c:pt idx="10">
                  <c:v>8336193.3627629988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35-402A-A1B2-4539B8139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748995055"/>
        <c:axId val="1"/>
      </c:barChart>
      <c:catAx>
        <c:axId val="1748995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B2B2B2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2048174.597922664"/>
          <c:min val="-47178978.222370878"/>
        </c:scaling>
        <c:delete val="1"/>
        <c:axPos val="l"/>
        <c:numFmt formatCode="General" sourceLinked="1"/>
        <c:majorTickMark val="out"/>
        <c:minorTickMark val="none"/>
        <c:tickLblPos val="nextTo"/>
        <c:crossAx val="17489950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307015969854648E-3"/>
          <c:y val="8.7248322147651006E-2"/>
          <c:w val="0.98133859680602908"/>
          <c:h val="0.825503355704698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-1871119.7999999998</c:v>
                </c:pt>
                <c:pt idx="1">
                  <c:v>-12834916.673101798</c:v>
                </c:pt>
                <c:pt idx="2">
                  <c:v>12144197.694611002</c:v>
                </c:pt>
                <c:pt idx="3">
                  <c:v>42352399.156174973</c:v>
                </c:pt>
                <c:pt idx="4">
                  <c:v>44139815.684596345</c:v>
                </c:pt>
                <c:pt idx="5">
                  <c:v>45954685.928911172</c:v>
                </c:pt>
                <c:pt idx="6">
                  <c:v>47821231.079995401</c:v>
                </c:pt>
                <c:pt idx="7">
                  <c:v>49781233.199842401</c:v>
                </c:pt>
                <c:pt idx="8">
                  <c:v>51893157.854978226</c:v>
                </c:pt>
                <c:pt idx="9">
                  <c:v>54802333.722851135</c:v>
                </c:pt>
                <c:pt idx="10">
                  <c:v>30234187.910465665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C3-4AFF-A03E-4E50CB522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9136272"/>
        <c:axId val="1"/>
      </c:barChart>
      <c:catAx>
        <c:axId val="391362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cmpd="sng" algn="ctr">
            <a:solidFill>
              <a:srgbClr val="B2B2B2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54802333.722851135"/>
          <c:min val="-12834916.673101798"/>
        </c:scaling>
        <c:delete val="1"/>
        <c:axPos val="l"/>
        <c:numFmt formatCode="General" sourceLinked="1"/>
        <c:majorTickMark val="out"/>
        <c:minorTickMark val="none"/>
        <c:tickLblPos val="nextTo"/>
        <c:crossAx val="391362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42DBD5-4A8D-2C75-070D-7CB2940C7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EB67E3-11B3-45B0-5BB1-960449CBE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73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9" Type="http://schemas.openxmlformats.org/officeDocument/2006/relationships/tags" Target="../tags/tag46.xml"/><Relationship Id="rId21" Type="http://schemas.openxmlformats.org/officeDocument/2006/relationships/tags" Target="../tags/tag28.xml"/><Relationship Id="rId34" Type="http://schemas.openxmlformats.org/officeDocument/2006/relationships/tags" Target="../tags/tag41.xml"/><Relationship Id="rId42" Type="http://schemas.openxmlformats.org/officeDocument/2006/relationships/tags" Target="../tags/tag49.xml"/><Relationship Id="rId47" Type="http://schemas.openxmlformats.org/officeDocument/2006/relationships/chart" Target="../charts/chart3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9" Type="http://schemas.openxmlformats.org/officeDocument/2006/relationships/tags" Target="../tags/tag36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tags" Target="../tags/tag39.xml"/><Relationship Id="rId37" Type="http://schemas.openxmlformats.org/officeDocument/2006/relationships/tags" Target="../tags/tag44.xml"/><Relationship Id="rId40" Type="http://schemas.openxmlformats.org/officeDocument/2006/relationships/tags" Target="../tags/tag47.xml"/><Relationship Id="rId45" Type="http://schemas.openxmlformats.org/officeDocument/2006/relationships/chart" Target="../charts/chart1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tags" Target="../tags/tag43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4" Type="http://schemas.openxmlformats.org/officeDocument/2006/relationships/slideLayout" Target="../slideLayouts/slideLayout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43" Type="http://schemas.openxmlformats.org/officeDocument/2006/relationships/tags" Target="../tags/tag50.xml"/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46" Type="http://schemas.openxmlformats.org/officeDocument/2006/relationships/chart" Target="../charts/chart2.xml"/><Relationship Id="rId20" Type="http://schemas.openxmlformats.org/officeDocument/2006/relationships/tags" Target="../tags/tag27.xml"/><Relationship Id="rId4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0A909B-5129-CF98-F72E-8C69DEC6F9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7C9914-CDD0-6099-321C-514A0C508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0CDE5-BFC6-CE56-A3D9-774B7E96B655}"/>
              </a:ext>
            </a:extLst>
          </p:cNvPr>
          <p:cNvSpPr>
            <a:spLocks/>
          </p:cNvSpPr>
          <p:nvPr/>
        </p:nvSpPr>
        <p:spPr>
          <a:xfrm>
            <a:off x="639251" y="1272786"/>
            <a:ext cx="10913499" cy="5107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Retângulo 26">
            <a:extLst>
              <a:ext uri="{FF2B5EF4-FFF2-40B4-BE49-F238E27FC236}">
                <a16:creationId xmlns:a16="http://schemas.microsoft.com/office/drawing/2014/main" id="{0D4BE918-EFAF-C01B-EF30-7ABCCC0BD52E}"/>
              </a:ext>
            </a:extLst>
          </p:cNvPr>
          <p:cNvSpPr/>
          <p:nvPr/>
        </p:nvSpPr>
        <p:spPr>
          <a:xfrm>
            <a:off x="1933522" y="3048415"/>
            <a:ext cx="9513840" cy="163419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US" sz="600">
              <a:solidFill>
                <a:schemeClr val="bg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35FEAE9-AE8D-C393-60D5-95711ED2ABE7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1198116"/>
              </p:ext>
            </p:extLst>
          </p:nvPr>
        </p:nvGraphicFramePr>
        <p:xfrm>
          <a:off x="2599868" y="3096040"/>
          <a:ext cx="8545970" cy="1420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D839C2-7157-2BF8-42E9-BB9D724C0DFF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 flipH="1">
            <a:off x="3994150" y="3580228"/>
            <a:ext cx="71438" cy="5238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0F7C77-AE3E-066A-ED1C-863661837732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3975100" y="3443704"/>
            <a:ext cx="368300" cy="136525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F6CE0E2-8D6A-435B-A6C8-DF3F6858F0C2}" type="datetime'''''''''''0,''0''''''''''''''''''''''1''''''''''7'''''''">
              <a:rPr lang="en-US" altLang="en-US" sz="1000" smtClean="0">
                <a:solidFill>
                  <a:schemeClr val="tx1"/>
                </a:solidFill>
                <a:effectLst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0,017</a:t>
            </a:fld>
            <a:endParaRPr lang="en-US" sz="1000" b="1">
              <a:solidFill>
                <a:schemeClr val="tx1"/>
              </a:solidFill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59352F-1889-77D5-1436-A7324F43EFCC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4654550" y="3792954"/>
            <a:ext cx="387350" cy="136525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B2FB091-0C69-43D2-9661-084794158386}" type="datetime'''0'''',''''''''''''''''''0''''1''''''''''''0'''''''''">
              <a:rPr lang="en-US" altLang="en-US" sz="10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0,010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etângulo 26">
            <a:extLst>
              <a:ext uri="{FF2B5EF4-FFF2-40B4-BE49-F238E27FC236}">
                <a16:creationId xmlns:a16="http://schemas.microsoft.com/office/drawing/2014/main" id="{CC66D3AE-EF95-ACA3-50A3-171EF78839C9}"/>
              </a:ext>
            </a:extLst>
          </p:cNvPr>
          <p:cNvSpPr/>
          <p:nvPr/>
        </p:nvSpPr>
        <p:spPr>
          <a:xfrm>
            <a:off x="1933522" y="1446695"/>
            <a:ext cx="9513840" cy="150560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US" sz="600">
              <a:solidFill>
                <a:schemeClr val="bg1"/>
              </a:solidFill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45260FA-D9C4-679F-EF8D-D313D1F0013D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598886419"/>
              </p:ext>
            </p:extLst>
          </p:nvPr>
        </p:nvGraphicFramePr>
        <p:xfrm>
          <a:off x="2546351" y="1711808"/>
          <a:ext cx="8445499" cy="10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2DAC7AB-77C7-907B-4FFA-01C645D2BA29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2516188" y="2308708"/>
            <a:ext cx="2095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298FB3A-7AC8-4DBA-A567-84090181395E}" type="datetime'''''''''''''''-''''''''''''''''''''''1''''''''3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-13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40490A-F6AF-3469-0E86-CFCE3295F17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297238" y="2670658"/>
            <a:ext cx="2270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08465A8-A210-4646-908F-DA8BA64130EF}" type="datetime'''''''''''-4''''''''''''''''''7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-47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A8ED1-595D-B72C-3E0F-25599C0ED53C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4141788" y="1915008"/>
            <a:ext cx="1143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BC75EC-F94A-4DCA-943B-EE0D3ED97991}" type="datetime'''''''''''''''''''''''6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367A0-F191-9533-DEEF-187A88F7B1C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897438" y="1632433"/>
            <a:ext cx="1841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321401E-6A5C-4852-8278-CD53487CA731}" type="datetime'3''''''''''''''''''2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902741-408D-CF90-9ED0-89E61A95FAAB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684838" y="1661008"/>
            <a:ext cx="1873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CF6123-3680-4D15-80D6-F8224167CB63}" type="datetime'''''''''''''''2''''''9''''''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B0604-A9DF-5113-F770-05370FB30E83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6480175" y="1687995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A348A78-3428-45AE-BE74-04BB3D00E3D1}" type="datetime'2''''''7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DB863A-A59B-E89C-D4BE-F6D6697B8E9B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7264400" y="1713395"/>
            <a:ext cx="1857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3D38FFB-55E4-4AC0-A166-CA1E99100AB0}" type="datetime'''''''''''''''''''''''''2''4''''''''''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6DAC89-D42B-3E7B-AA42-73213E079910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8056563" y="1735620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7462DFA-ACCB-4946-B0BF-9366C04DA991}" type="datetime'''''2''''''''''''''''''''''2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D694E-C361-F945-0FC4-8613D1C7B9B9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8837613" y="1756258"/>
            <a:ext cx="193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C9056D3-45D9-4335-97A0-C0A90BCFC5A4}" type="datetime'''''''''''''''''''''''''''''''''''''''''''''''2''''''0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687DBF-C91C-1781-7E02-2BB3CEB02F1C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9640888" y="1776895"/>
            <a:ext cx="1682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DB073DA-BC95-41D6-BF85-36245C772927}" type="datetime'''''''''''''''''''1''''''''''''''''''''''''''''9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B66F12-4205-9A70-9886-879FDF98C128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10456862" y="1886433"/>
            <a:ext cx="1143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C4AEB93-A604-49D7-B20A-B13847FA591D}" type="datetime'''''8''''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3" name="Retângulo 26">
            <a:extLst>
              <a:ext uri="{FF2B5EF4-FFF2-40B4-BE49-F238E27FC236}">
                <a16:creationId xmlns:a16="http://schemas.microsoft.com/office/drawing/2014/main" id="{3AF1AD30-DC6D-5194-C7E9-B47125C09B51}"/>
              </a:ext>
            </a:extLst>
          </p:cNvPr>
          <p:cNvSpPr/>
          <p:nvPr/>
        </p:nvSpPr>
        <p:spPr>
          <a:xfrm>
            <a:off x="1933522" y="4748898"/>
            <a:ext cx="9513840" cy="14827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24" name="Retângulo 26">
            <a:extLst>
              <a:ext uri="{FF2B5EF4-FFF2-40B4-BE49-F238E27FC236}">
                <a16:creationId xmlns:a16="http://schemas.microsoft.com/office/drawing/2014/main" id="{FC71E56C-8F2F-3B17-E467-478EE0A5E8BD}"/>
              </a:ext>
            </a:extLst>
          </p:cNvPr>
          <p:cNvSpPr/>
          <p:nvPr/>
        </p:nvSpPr>
        <p:spPr>
          <a:xfrm>
            <a:off x="807376" y="4748898"/>
            <a:ext cx="1484366" cy="1482723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</a:gra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Earnings Impact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(Million BRL)</a:t>
            </a: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25" name="Retângulo 26">
            <a:extLst>
              <a:ext uri="{FF2B5EF4-FFF2-40B4-BE49-F238E27FC236}">
                <a16:creationId xmlns:a16="http://schemas.microsoft.com/office/drawing/2014/main" id="{06217821-52B5-38EF-05CB-7C014613543B}"/>
              </a:ext>
            </a:extLst>
          </p:cNvPr>
          <p:cNvSpPr/>
          <p:nvPr/>
        </p:nvSpPr>
        <p:spPr>
          <a:xfrm>
            <a:off x="807376" y="1446695"/>
            <a:ext cx="1484313" cy="1505602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</a:gra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Cash Flow / NPV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(Million BRL)</a:t>
            </a: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26" name="Retângulo 26">
            <a:extLst>
              <a:ext uri="{FF2B5EF4-FFF2-40B4-BE49-F238E27FC236}">
                <a16:creationId xmlns:a16="http://schemas.microsoft.com/office/drawing/2014/main" id="{04A9C879-3EA9-6B48-5C65-C0194FC457E7}"/>
              </a:ext>
            </a:extLst>
          </p:cNvPr>
          <p:cNvSpPr/>
          <p:nvPr/>
        </p:nvSpPr>
        <p:spPr>
          <a:xfrm>
            <a:off x="807376" y="3035715"/>
            <a:ext cx="1484366" cy="1629427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</a:gra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Transactional Cost Impact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(BRL)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A5FE41-8C31-0A98-06FA-A777B6DDB3B6}"/>
              </a:ext>
            </a:extLst>
          </p:cNvPr>
          <p:cNvSpPr/>
          <p:nvPr/>
        </p:nvSpPr>
        <p:spPr>
          <a:xfrm>
            <a:off x="9408454" y="2439700"/>
            <a:ext cx="1934883" cy="3757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200"/>
              </a:spcBef>
            </a:pPr>
            <a:r>
              <a:rPr lang="en-US" sz="800">
                <a:solidFill>
                  <a:schemeClr val="tx1"/>
                </a:solidFill>
              </a:rPr>
              <a:t>In the period of 10 years:</a:t>
            </a:r>
            <a:br>
              <a:rPr lang="en-US" sz="800">
                <a:solidFill>
                  <a:schemeClr val="tx1"/>
                </a:solidFill>
              </a:rPr>
            </a:br>
            <a:r>
              <a:rPr lang="en-US" sz="1100" b="1">
                <a:solidFill>
                  <a:schemeClr val="tx1"/>
                </a:solidFill>
              </a:rPr>
              <a:t>NPV: </a:t>
            </a:r>
            <a:r>
              <a:rPr lang="en-US" sz="1000">
                <a:solidFill>
                  <a:schemeClr val="tx1"/>
                </a:solidFill>
              </a:rPr>
              <a:t>R$ </a:t>
            </a:r>
            <a:fld id="{2D4E1127-C16D-4F6D-B798-DB52E62315D0}" type="thinkcell&lt;?xml version=&quot;1.0&quot; encoding=&quot;UTF-16&quot; standalone=&quot;yes&quot;?&gt;&lt;root reqver=&quot;28224&quot;&gt;&lt;version val=&quot;35088&quot;/&gt;&lt;PersistentType&gt;&lt;m_varval type=&quot;1&quot; val=&quot;1.27596275896731495857E+08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&lt;/m_strSuffix17909&gt;&lt;m_nMagnitude17909 val=&quot;6&quot;/&gt;&lt;m_yearfmt&gt;&lt;begin val=&quot;0&quot;/&gt;&lt;end val=&quot;4&quot;/&gt;&lt;/m_yearfmt&gt;&lt;/m_precExcel&gt;&lt;m_fontExcel&gt;&lt;m_bBold val=&quot;1&quot;/&gt;&lt;m_bItalic val=&quot;0&quot;/&gt;&lt;/m_fontExcel&gt;&lt;m_colFontExcel&gt;&lt;m_msothmcolidx val=&quot;0&quot;/&gt;&lt;m_rgb r=&quot;FF&quot; g=&quot;00&quot; b=&quot;00&quot;/&gt;&lt;/m_colFontExcel&gt;&lt;m_guid val=&quot;8f8014b6-392a-4d1a-81dd-d01bdf52eea9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000" smtClean="0">
                <a:solidFill>
                  <a:schemeClr val="tx1"/>
                </a:solidFill>
                <a:effectLst/>
              </a:rPr>
              <a:pPr/>
              <a:t>128</a:t>
            </a:fld>
            <a:r>
              <a:rPr lang="en-US" sz="1000">
                <a:solidFill>
                  <a:schemeClr val="tx1"/>
                </a:solidFill>
              </a:rPr>
              <a:t> MM |    IRR</a:t>
            </a:r>
            <a:r>
              <a:rPr lang="en-US" sz="1100" b="1">
                <a:solidFill>
                  <a:schemeClr val="tx1"/>
                </a:solidFill>
              </a:rPr>
              <a:t>: </a:t>
            </a:r>
            <a:fld id="{783B0B5A-9137-41E6-B7C7-0E03EA4C66C6}" type="thinkcell&lt;?xml version=&quot;1.0&quot; encoding=&quot;UTF-16&quot; standalone=&quot;yes&quot;?&gt;&lt;root reqver=&quot;28224&quot;&gt;&lt;version val=&quot;35088&quot;/&gt;&lt;PersistentType&gt;&lt;m_varval type=&quot;1&quot; val=&quot;4.75516601373828535770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559a3351-6792-4336-b923-735df2d70379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000" smtClean="0">
                <a:solidFill>
                  <a:schemeClr val="tx1"/>
                </a:solidFill>
                <a:effectLst/>
              </a:rPr>
              <a:pPr/>
              <a:t>48%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1CD41EB-68CB-E433-6266-F1B19A84D718}"/>
              </a:ext>
            </a:extLst>
          </p:cNvPr>
          <p:cNvSpPr/>
          <p:nvPr/>
        </p:nvSpPr>
        <p:spPr>
          <a:xfrm>
            <a:off x="8147367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BE986797-FD8A-4911-9132-D08BD5B547CF}" type="thinkcell&lt;?xml version=&quot;1.0&quot; encoding=&quot;UTF-16&quot; standalone=&quot;yes&quot;?&gt;&lt;root reqver=&quot;28224&quot;&gt;&lt;version val=&quot;35088&quot;/&gt;&lt;PersistentType&gt;&lt;m_varval type=&quot;1&quot; val=&quot;-4.97383759094674786638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33773b22-f553-4ac9-9065-f59b0de56272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800" b="1" smtClean="0">
                <a:solidFill>
                  <a:schemeClr val="bg1"/>
                </a:solidFill>
                <a:effectLst/>
              </a:rPr>
              <a:pPr/>
              <a:t>-50%</a:t>
            </a:fld>
            <a:endParaRPr lang="en-US" sz="800" b="1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17B82C-CA53-9F06-3DE0-BE25D27169B5}"/>
              </a:ext>
            </a:extLst>
          </p:cNvPr>
          <p:cNvCxnSpPr/>
          <p:nvPr>
            <p:custDataLst>
              <p:tags r:id="rId17"/>
            </p:custDataLst>
          </p:nvPr>
        </p:nvCxnSpPr>
        <p:spPr bwMode="gray">
          <a:xfrm>
            <a:off x="2708274" y="4056195"/>
            <a:ext cx="160338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2858CA-03F2-56FB-6B09-AA6590869540}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>
            <a:off x="2708274" y="4259395"/>
            <a:ext cx="160338" cy="0"/>
          </a:xfrm>
          <a:prstGeom prst="line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2595A50-628D-DB7D-0627-3F16A3EBA03A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2928936" y="3984757"/>
            <a:ext cx="3302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874ABB0B-C6CE-401E-82C8-A6E4D61E065F}" type="datetime'''''''AS''''''''''''''''''-''I''''''S'''''''''">
              <a:rPr lang="en-U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AS-IS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B1B909-9B9D-79EF-D7BC-4E83F4BC36E5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2928936" y="4187957"/>
            <a:ext cx="376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0E46F8F-55DE-4612-9D03-0A5E90F903ED}" type="datetime'''T''''''''''''''O''''''''''''''''''-BE'''''''''''''''''''''''">
              <a:rPr lang="en-U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TO-BE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01E5557-C5AB-469F-B03F-4A50FAF73AF9}"/>
              </a:ext>
            </a:extLst>
          </p:cNvPr>
          <p:cNvSpPr/>
          <p:nvPr/>
        </p:nvSpPr>
        <p:spPr>
          <a:xfrm>
            <a:off x="9874250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820A94B9-1EF4-4845-B659-89BDD4016677}" type="thinkcell&lt;?xml version=&quot;1.0&quot; encoding=&quot;UTF-16&quot; standalone=&quot;yes&quot;?&gt;&lt;root reqver=&quot;28224&quot;&gt;&lt;version val=&quot;35088&quot;/&gt;&lt;PersistentType&gt;&lt;m_varval type=&quot;1&quot; val=&quot;-4.98619159107951546162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56d29fcc-a52e-4e96-b03f-3b379b7b56e3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-50%</a:t>
            </a:fld>
            <a:endParaRPr lang="en-US" sz="700" b="1">
              <a:solidFill>
                <a:schemeClr val="bg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6AEF8-531F-8FF1-C726-9F406F23560D}"/>
              </a:ext>
            </a:extLst>
          </p:cNvPr>
          <p:cNvSpPr/>
          <p:nvPr/>
        </p:nvSpPr>
        <p:spPr>
          <a:xfrm>
            <a:off x="4693603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56DEE40-2FCE-4D88-9415-BEDD4EDE74F4}" type="thinkcell&lt;?xml version=&quot;1.0&quot; encoding=&quot;UTF-16&quot; standalone=&quot;yes&quot;?&gt;&lt;root reqver=&quot;28224&quot;&gt;&lt;version val=&quot;35088&quot;/&gt;&lt;PersistentType&gt;&lt;m_varval type=&quot;1&quot; val=&quot;-5.08620179330647488314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3c0bd27f-d7be-4de4-a07b-5b69c1d0b37b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-51%</a:t>
            </a:fld>
            <a:endParaRPr lang="en-US" sz="700" b="1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2E3E725-3642-010B-53DA-5BF541992D7B}"/>
              </a:ext>
            </a:extLst>
          </p:cNvPr>
          <p:cNvSpPr/>
          <p:nvPr/>
        </p:nvSpPr>
        <p:spPr>
          <a:xfrm>
            <a:off x="9010808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302ED2C5-A44F-4205-AECE-FA08EF0FEBF8}" type="thinkcell&lt;?xml version=&quot;1.0&quot; encoding=&quot;UTF-16&quot; standalone=&quot;yes&quot;?&gt;&lt;root reqver=&quot;28224&quot;&gt;&lt;version val=&quot;35088&quot;/&gt;&lt;PersistentType&gt;&lt;m_varval type=&quot;1&quot; val=&quot;-4.94776770219730437361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035912b8-48c2-435a-8d75-9dd273b664b3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6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-49%</a:t>
            </a:fld>
            <a:endParaRPr lang="en-US" sz="700" b="1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9A429AA-C1DB-6298-9322-94EF95AAB3B1}"/>
              </a:ext>
            </a:extLst>
          </p:cNvPr>
          <p:cNvSpPr/>
          <p:nvPr/>
        </p:nvSpPr>
        <p:spPr>
          <a:xfrm>
            <a:off x="6420485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8F096667-3D18-425A-B280-A81BEF3494F5}" type="thinkcell&lt;?xml version=&quot;1.0&quot; encoding=&quot;UTF-16&quot; standalone=&quot;yes&quot;?&gt;&lt;root reqver=&quot;28224&quot;&gt;&lt;version val=&quot;35088&quot;/&gt;&lt;PersistentType&gt;&lt;m_varval type=&quot;1&quot; val=&quot;-5.03273973700084056304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67a4211e-fd1b-4783-abf3-7bef8180b2d2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6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-50%</a:t>
            </a:fld>
            <a:endParaRPr lang="en-US" sz="700" b="1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5413224-78CD-763B-045B-B925C7CDC269}"/>
              </a:ext>
            </a:extLst>
          </p:cNvPr>
          <p:cNvSpPr/>
          <p:nvPr/>
        </p:nvSpPr>
        <p:spPr>
          <a:xfrm>
            <a:off x="7283926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A33D0E09-854A-4D0B-B7E8-05F4C6E91ADF}" type="thinkcell&lt;?xml version=&quot;1.0&quot; encoding=&quot;UTF-16&quot; standalone=&quot;yes&quot;?&gt;&lt;root reqver=&quot;28224&quot;&gt;&lt;version val=&quot;35088&quot;/&gt;&lt;PersistentType&gt;&lt;m_varval type=&quot;1&quot; val=&quot;-5.00301423271740404175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6d814d3b-c985-4f66-bfd2-dd618ab6e891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6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-50%</a:t>
            </a:fld>
            <a:endParaRPr lang="en-US" sz="700" b="1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B7C6D8-4640-7AB7-D681-E36BB6CFCC9C}"/>
              </a:ext>
            </a:extLst>
          </p:cNvPr>
          <p:cNvSpPr/>
          <p:nvPr/>
        </p:nvSpPr>
        <p:spPr>
          <a:xfrm>
            <a:off x="5557044" y="4158079"/>
            <a:ext cx="371475" cy="1508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8F47C386-295B-4CD9-B79E-AF6F0018795D}" type="thinkcell&lt;?xml version=&quot;1.0&quot; encoding=&quot;UTF-16&quot; standalone=&quot;yes&quot;?&gt;&lt;root reqver=&quot;28224&quot;&gt;&lt;version val=&quot;35088&quot;/&gt;&lt;PersistentType&gt;&lt;m_varval type=&quot;1&quot; val=&quot;-5.06093592830335623489E+01&quot;/&gt;&lt;m_precExcel&gt;&lt;m_bNumberIsYear val=&quot;0&quot;/&gt;&lt;m_esigndisplay val=&quot;0&quot;/&gt;&lt;m_nSignPosition val=&quot;-2147483648&quot;/&gt;&lt;m_chMinusSymbol&gt;-&lt;/m_chMinusSymbol&gt;&lt;m_nDecimalDigits17909 val=&quot;0&quot;/&gt;&lt;m_chDecimalSymbol17909&gt;,&lt;/m_chDecimalSymbol17909&gt;&lt;m_nGroupingDigits17909 val=&quot;2147483647&quot;/&gt;&lt;m_strPrefix&gt;&lt;/m_strPrefix&gt;&lt;m_strSuffix17909&gt;%&lt;/m_strSuffix17909&gt;&lt;m_nMagnitude17909 val=&quot;0&quot;/&gt;&lt;m_yearfmt&gt;&lt;begin val=&quot;0&quot;/&gt;&lt;end val=&quot;4&quot;/&gt;&lt;/m_yearfmt&gt;&lt;/m_precExcel&gt;&lt;m_fontExcel&gt;&lt;m_bBold val=&quot;0&quot;/&gt;&lt;m_bItalic val=&quot;0&quot;/&gt;&lt;/m_fontExcel&gt;&lt;m_colFontExcel&gt;&lt;m_msothmcolidx val=&quot;0&quot;/&gt;&lt;m_rgb r=&quot;00&quot; g=&quot;00&quot; b=&quot;00&quot;/&gt;&lt;/m_colFontExcel&gt;&lt;m_guid val=&quot;23ea085c-3261-4dfa-9188-0ba275ce7292&quot;/&gt;&lt;m_vecbMoniker&gt;4Mnqefm6zhGMggCqAEupCxgCAABoAHQAdABwAHMAOgAvAC8AbQB5AG8AZgBmAGkAYwBlAC4AYQBjAGMAZQBuAHQAdQByAGUALgBjAG8AbQAvAHAAZQByAHMAbwBuAGEAbAAvAGQAbwB1AGcAbABhAHMAXwBmAF8AcwBpAGwAdgBhAF8AYQBjAGMAZQBuAHQAdQByAGUAXwBjAG8AbQAvAEQAbwBjAHUAbQBlAG4AdABzAC8AMAAxACUAMgAwAFAAcgBvAGoAZQBjAHQAcwAvAFAAUgBKACUAMgAwAC0AJQAyADAARQBsAG8AJQAyADAALQAlADIAMABSAGkAcwBlACUAMgAwAE4AZQB3ACUAMgAwAEMAbwByAGUAJQAyADAALQAlADIAMAAyADAAMgAzAC8AMAAzACUAMgAwAEEAbgBhAGwAaQBzAGUAcwAlADIAMABlACUAMgAwAEUAbgB0AHIAZQB2AGkAcwB0AGEAcwAvAEMALgAlADIAMABMAGkAcwB0AGEAcwAlADIAMABkAGUAJQAyADAAYwB1AHMAdABvAHMAJQAyADAAZQAlADIAMABtAG8AZABlAGwAYQBnAGUAbQAlADIAMABCAEMALwAyADAAMgAzADAANAAxADMAXwBFAGwAbwAlADIAMABSAGkAcwBlAF8AQgBDAF8AdgAwADIALgAyAC4AeABsAHMAeAAAAHlYgfQ7HX9IryyCXcSFJ2MAAAAApasAAw&lt;/m_vecbMoniker&gt;&lt;m_odtModified val=&quot;2023-04-14T00:11:26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700" b="1" smtClean="0">
                <a:solidFill>
                  <a:schemeClr val="bg1"/>
                </a:solidFill>
                <a:effectLst/>
              </a:rPr>
              <a:pPr/>
              <a:t>-51%</a:t>
            </a:fld>
            <a:endParaRPr lang="en-US" sz="700" b="1">
              <a:solidFill>
                <a:schemeClr val="bg1"/>
              </a:solidFill>
            </a:endParaRP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D39F1F1E-9AB4-2508-8960-6DF86C4F8816}"/>
              </a:ext>
            </a:extLst>
          </p:cNvPr>
          <p:cNvGraphicFramePr/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094933321"/>
              </p:ext>
            </p:extLst>
          </p:nvPr>
        </p:nvGraphicFramePr>
        <p:xfrm>
          <a:off x="2470150" y="4902886"/>
          <a:ext cx="8521700" cy="94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3B27A536-6831-5EB0-ACAE-36EC6E62502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738176" y="5944769"/>
            <a:ext cx="3492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AAC3A22-2536-4172-A772-FB36E03A42AE}" type="datetime'''''''''''''''''''2''''0''''''''''''2''''''''''''3''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5C2E7E-F64E-F17B-C3D0-82FBE116FE2C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499091" y="5944769"/>
            <a:ext cx="3524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1D9949A-6B0C-4957-ACB0-558B598D9C89}" type="datetime'''2''''0''''''''''''''2''''4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5725BF-D19B-3E1C-A9DC-AE52D6907010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263181" y="5944769"/>
            <a:ext cx="3460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D1716B3-C156-4CFD-8A73-53AE3BDF753F}" type="datetime'''''''2''''''''''''''''0''''''''''''2''''''''''''''5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407800-8D79-0B27-52CB-81F27FFACB9A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5020921" y="5944769"/>
            <a:ext cx="3524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9AC70BF-899A-4599-9A23-52C59D1AC6A8}" type="datetime'''''''''''''''''''2''''0''''''''''2''''''''''6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D5D5C7-3F9E-EF42-EF3F-4E9D8ECE148F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85011" y="5944769"/>
            <a:ext cx="3397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108DC55-C613-4451-A285-D5E53F64A6AE}" type="datetime'''''20''''''''''''''''''''''''''''''27''''''''''''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0F54C9-C6B2-4F18-0137-AFC6E8E7B40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6536401" y="5944769"/>
            <a:ext cx="3492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11EAF16-1D6C-4870-8922-3B7DFDC10535}" type="datetime'''2''02''''''''''''8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4BAEE3-F8DD-9457-7449-31B5FC726E2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7297316" y="5944769"/>
            <a:ext cx="3524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8D055C7-7368-491A-82D6-BBBEDA94A36C}" type="datetime'''''2''''''''''''0''''''''2''''''''''''9''''''''''''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243043-F5C2-4062-8975-7AD6A5A091D2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061406" y="5944769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3A7CFD2-E7AF-4DC9-9EEF-61CDFC53A204}" type="datetime'''''''2''''''''030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878945-9FFE-41CB-6A62-AD8F2A7BAD79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836609" y="5944769"/>
            <a:ext cx="3286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D4D074E-ECC4-4ECE-8C0C-C7F60947B9CE}" type="datetime'2''''''0''''''3''''''''''''''''''''''1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2031</a:t>
            </a:fld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897FB3-3857-47BA-A816-795D018096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576887" y="5944769"/>
            <a:ext cx="3492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FCBDA8-06E0-40F0-9242-9DF20406747A}" type="datetime'2''''''''''0''''''''''''''''''''''3''2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2032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73D924-B1A0-3ACB-4B5B-1B4D2614D28A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10337800" y="5944769"/>
            <a:ext cx="3540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4ABEE2F-CB3B-4F11-8168-3C19E6C9375B}" type="datetime'''2''''''''''0''''''''''3''''''''''''''''3'''''''''''''">
              <a:rPr lang="en-US" altLang="en-US" sz="10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2033</a:t>
            </a:fld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894D02-FF33-567E-AB8B-18C82D4DCAAF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2546351" y="5664886"/>
            <a:ext cx="1508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9CDA9B-7E06-4F97-ACB9-A1EA8A18F55A}" type="datetime'''''''''''''''''''''''''''''''''''''''''''''''''''''-''2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-2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EBC6AF0-166D-1376-60B5-F2E4CD1B1123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3305174" y="5791886"/>
            <a:ext cx="2095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46CA21B-9D7D-4C24-8221-8A11C0DADF87}" type="datetime'''''''''''''''''-''''''''''''''''''''''''1''''''''''''3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-13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90A25B-9EC4-87DD-AFE7-895546F5A173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4119563" y="5315636"/>
            <a:ext cx="1587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FE2CE30-86C2-4922-898C-C54F625BE7DF}" type="datetime'''''''''''''''''''''''''''''''1''''''''''2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363F353-A5D9-B7E9-A0A4-2BC7DA7ED9DA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897438" y="4967973"/>
            <a:ext cx="1857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36C36AE-23DA-49D4-A1DA-FD1B655F0F28}" type="datetime'''''4''''''''''''''''''''''''''''''''''''''''''2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818B8D-55A7-8D39-5CF6-7491C05A4000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681663" y="4947336"/>
            <a:ext cx="193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A42AFA1-D6C3-4675-B8C4-8A5028CCC1EB}" type="datetime'''''4''''4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00FDFC-F550-165D-87CD-1B4276F264DC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470650" y="4925111"/>
            <a:ext cx="193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D57B66C-337F-48F0-BDDA-FF57D3B744CE}" type="datetime'''''''''''46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6F63DA-77C8-56BA-AD57-DCD0356B2A34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7259638" y="4904473"/>
            <a:ext cx="193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2EC00F3-684F-4764-A978-F10053818AED}" type="datetime'''''''4''''''''''''''''''''''''''''''''''''''''''''''8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80E2D0-B1FD-BB4F-0624-5B5C0CD0075A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047038" y="4882248"/>
            <a:ext cx="1984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76BB06E-2E02-4B7D-AD8A-2B30C0F97A45}" type="datetime'5''''''''''''''''''''''''''0''''''''''''''''''''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2E00E5-099E-CEC4-1ACF-9CF73B663838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843963" y="4856848"/>
            <a:ext cx="1825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2D925C2-4384-4801-9AE0-E3132AA3965B}" type="datetime'''''''''''''''''''''''''''''52''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F446FB-795B-0C82-1571-E4C9FADAE539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631363" y="4823511"/>
            <a:ext cx="1873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24800E5-7D38-45CB-91CB-64625039C4FF}" type="datetime'''''''''''''''''''5''''''5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3A99620-1FE7-9918-FE39-C5E2F5A92E1B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10414000" y="5107673"/>
            <a:ext cx="2000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7463" tIns="0" rIns="17463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B098E35-0437-40C3-AB20-A91284B9D750}" type="datetime'''''''''3''''''''''''''''''''''''''''''''''''''''''''''0'">
              <a:rPr lang="en-US" altLang="en-US" sz="10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9ED3F1-FDE1-6E63-BF4D-37E6BB6DE424}"/>
              </a:ext>
            </a:extLst>
          </p:cNvPr>
          <p:cNvSpPr txBox="1"/>
          <p:nvPr/>
        </p:nvSpPr>
        <p:spPr>
          <a:xfrm>
            <a:off x="10267149" y="6084534"/>
            <a:ext cx="551433" cy="1384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8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(6 months</a:t>
            </a:r>
            <a:r>
              <a:rPr lang="en-US" sz="9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700A07-D5F4-BEE9-F096-C5B6C96F6C52}"/>
              </a:ext>
            </a:extLst>
          </p:cNvPr>
          <p:cNvSpPr txBox="1"/>
          <p:nvPr/>
        </p:nvSpPr>
        <p:spPr>
          <a:xfrm>
            <a:off x="2666741" y="6099922"/>
            <a:ext cx="546625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8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(6 months)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488D6D-302A-68F5-A4E5-34AB7E9F990E}"/>
              </a:ext>
            </a:extLst>
          </p:cNvPr>
          <p:cNvSpPr txBox="1"/>
          <p:nvPr/>
        </p:nvSpPr>
        <p:spPr>
          <a:xfrm>
            <a:off x="5513203" y="2200986"/>
            <a:ext cx="530594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Break-even: </a:t>
            </a:r>
            <a:b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out/27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68DEF7-9714-439F-8FEB-EF6FFDD8FCA8}"/>
              </a:ext>
            </a:extLst>
          </p:cNvPr>
          <p:cNvSpPr txBox="1"/>
          <p:nvPr/>
        </p:nvSpPr>
        <p:spPr>
          <a:xfrm>
            <a:off x="4733739" y="5642550"/>
            <a:ext cx="530594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Break-even: </a:t>
            </a:r>
            <a:b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700" err="1">
                <a:solidFill>
                  <a:schemeClr val="tx1">
                    <a:lumMod val="50000"/>
                    <a:lumOff val="50000"/>
                  </a:schemeClr>
                </a:solidFill>
              </a:rPr>
              <a:t>jan</a:t>
            </a: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/26</a:t>
            </a:r>
          </a:p>
        </p:txBody>
      </p:sp>
    </p:spTree>
    <p:extLst>
      <p:ext uri="{BB962C8B-B14F-4D97-AF65-F5344CB8AC3E}">
        <p14:creationId xmlns:p14="http://schemas.microsoft.com/office/powerpoint/2010/main" val="393940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20JwE.B6w80k6UsuVZq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3s1dqvt4NyFNYRe5tiZ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7nEMdRdr6NN5PeDXP00D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9xCVX310_iUWQPZti0w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wbUn9WAiwqosffTvlOP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uMMsTXLsaDMlhGSrtkG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jof9DBTRRoSUvO.DdkXl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wU.duyhlc6hzY.VAcu5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87VgDxqyyC2Bsmjrg5d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cOM_wcycGzEQbbfpUMc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76KBgcMEgLRKGJoUF9d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spn84pXqlfWXk8Y21_O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MgE2NtTpk.3S.kRowVu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m6X.H3N3OMBpU4X7JL7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hJ.kaUkvP167Aux7m7c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f86ZBhxGTwYs0D4rz4J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xhMv35jkbc2e3Mx_FX1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9xRMPyruuf9NCaNTMan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qecZGzH_tPzpAZeg5WK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8VSbqSyGNsS4_QcZ1KFN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x5ieOfr0vAclaLy3SnA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u2ysOG5ohRIX5Qiugn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6OGrTNMXjgU2JC58hbd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gScsExppJWSBCiwU1.i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BpgemXHDJPZTBsTrZM_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EaTBcedlOCf.8zdS6S.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yCwa2RnWJPPpbvsWKdG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rBtkgY_.m5ezlHIOOSw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EVUW11QmP60eqEiGd8B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.9dZxKQ8rAtnhi3xmynQ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SbP5w8dwtvMQ0Fxq7PX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cNqKLxbOPg5sj4TIRR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SSHDMUqpo35uoM0FkIW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X4SJOBO2dGGesyFgm8d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tE2Hm9iuCNzUhORKtDO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3yBGie6sfvaJS2HyIaE2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diXAw5l3G_1cx_FRBbc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n7lVHq7mlgwykRWg2EA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vB5dO1RAChJwVBF.AjQ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FIn1F1qVhi47E08JWi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mbiI5qVqna65S61pAx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C6Q2McR98_XNrxIW.5q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D1zAVrJ4NUcWkQNcd0kg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2025-11-01T00:12:54Z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